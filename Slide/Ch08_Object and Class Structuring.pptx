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0"/>
  </p:notesMasterIdLst>
  <p:handoutMasterIdLst>
    <p:handoutMasterId r:id="rId21"/>
  </p:handoutMasterIdLst>
  <p:sldIdLst>
    <p:sldId id="256" r:id="rId2"/>
    <p:sldId id="313" r:id="rId3"/>
    <p:sldId id="330" r:id="rId4"/>
    <p:sldId id="373" r:id="rId5"/>
    <p:sldId id="374" r:id="rId6"/>
    <p:sldId id="375" r:id="rId7"/>
    <p:sldId id="376" r:id="rId8"/>
    <p:sldId id="378" r:id="rId9"/>
    <p:sldId id="379" r:id="rId10"/>
    <p:sldId id="380" r:id="rId11"/>
    <p:sldId id="387" r:id="rId12"/>
    <p:sldId id="381" r:id="rId13"/>
    <p:sldId id="382" r:id="rId14"/>
    <p:sldId id="383" r:id="rId15"/>
    <p:sldId id="384" r:id="rId16"/>
    <p:sldId id="385" r:id="rId17"/>
    <p:sldId id="386" r:id="rId18"/>
    <p:sldId id="274" r:id="rId19"/>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53"/>
    <p:restoredTop sz="77724" autoAdjust="0"/>
  </p:normalViewPr>
  <p:slideViewPr>
    <p:cSldViewPr>
      <p:cViewPr varScale="1">
        <p:scale>
          <a:sx n="82" d="100"/>
          <a:sy n="82" d="100"/>
        </p:scale>
        <p:origin x="2778" y="11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en Nguyen" userId="0175752f-9954-422a-b203-c08021e906d8" providerId="ADAL" clId="{C2E6DC08-BE47-4B4A-AFFA-ADF88293000C}"/>
    <pc:docChg chg="modSld">
      <pc:chgData name="Kien Nguyen" userId="0175752f-9954-422a-b203-c08021e906d8" providerId="ADAL" clId="{C2E6DC08-BE47-4B4A-AFFA-ADF88293000C}" dt="2023-05-28T14:18:01.158" v="4" actId="1035"/>
      <pc:docMkLst>
        <pc:docMk/>
      </pc:docMkLst>
      <pc:sldChg chg="modSp mod">
        <pc:chgData name="Kien Nguyen" userId="0175752f-9954-422a-b203-c08021e906d8" providerId="ADAL" clId="{C2E6DC08-BE47-4B4A-AFFA-ADF88293000C}" dt="2023-05-28T14:18:01.158" v="4" actId="1035"/>
        <pc:sldMkLst>
          <pc:docMk/>
          <pc:sldMk cId="957291339" sldId="373"/>
        </pc:sldMkLst>
        <pc:picChg chg="mod">
          <ac:chgData name="Kien Nguyen" userId="0175752f-9954-422a-b203-c08021e906d8" providerId="ADAL" clId="{C2E6DC08-BE47-4B4A-AFFA-ADF88293000C}" dt="2023-05-28T14:18:01.158" v="4" actId="1035"/>
          <ac:picMkLst>
            <pc:docMk/>
            <pc:sldMk cId="957291339" sldId="373"/>
            <ac:picMk id="6" creationId="{7FDF5F96-6B08-894E-B852-49E991224A13}"/>
          </ac:picMkLst>
        </pc:picChg>
      </pc:sldChg>
    </pc:docChg>
  </pc:docChgLst>
  <pc:docChgLst>
    <pc:chgData name="Kien Nguyen" userId="0175752f-9954-422a-b203-c08021e906d8" providerId="ADAL" clId="{80C5E9A5-EFCD-4FE0-AAA1-FB1631328F46}"/>
    <pc:docChg chg="modMainMaster">
      <pc:chgData name="Kien Nguyen" userId="0175752f-9954-422a-b203-c08021e906d8" providerId="ADAL" clId="{80C5E9A5-EFCD-4FE0-AAA1-FB1631328F46}" dt="2023-09-18T08:39:35.340" v="1" actId="20577"/>
      <pc:docMkLst>
        <pc:docMk/>
      </pc:docMkLst>
      <pc:sldMasterChg chg="modSldLayout">
        <pc:chgData name="Kien Nguyen" userId="0175752f-9954-422a-b203-c08021e906d8" providerId="ADAL" clId="{80C5E9A5-EFCD-4FE0-AAA1-FB1631328F46}" dt="2023-09-18T08:39:35.340" v="1" actId="20577"/>
        <pc:sldMasterMkLst>
          <pc:docMk/>
          <pc:sldMasterMk cId="3573815682" sldId="2147483660"/>
        </pc:sldMasterMkLst>
        <pc:sldLayoutChg chg="modSp mod">
          <pc:chgData name="Kien Nguyen" userId="0175752f-9954-422a-b203-c08021e906d8" providerId="ADAL" clId="{80C5E9A5-EFCD-4FE0-AAA1-FB1631328F46}" dt="2023-09-18T08:39:35.340" v="1" actId="20577"/>
          <pc:sldLayoutMkLst>
            <pc:docMk/>
            <pc:sldMasterMk cId="3573815682" sldId="2147483660"/>
            <pc:sldLayoutMk cId="2057139944" sldId="2147483662"/>
          </pc:sldLayoutMkLst>
          <pc:spChg chg="mod">
            <ac:chgData name="Kien Nguyen" userId="0175752f-9954-422a-b203-c08021e906d8" providerId="ADAL" clId="{80C5E9A5-EFCD-4FE0-AAA1-FB1631328F46}" dt="2023-09-18T08:39:35.340" v="1" actId="20577"/>
            <ac:spMkLst>
              <pc:docMk/>
              <pc:sldMasterMk cId="3573815682" sldId="2147483660"/>
              <pc:sldLayoutMk cId="2057139944" sldId="2147483662"/>
              <ac:spMk id="11" creationId="{9DA947C3-1AB8-1944-94EA-07318327ACB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4143588" y="0"/>
            <a:ext cx="3169920" cy="480060"/>
          </a:xfrm>
          <a:prstGeom prst="rect">
            <a:avLst/>
          </a:prstGeom>
        </p:spPr>
        <p:txBody>
          <a:bodyPr vert="horz" lIns="91440" tIns="45720" rIns="91440" bIns="45720" rtlCol="0"/>
          <a:lstStyle>
            <a:lvl1pPr algn="r">
              <a:defRPr sz="1200"/>
            </a:lvl1pPr>
          </a:lstStyle>
          <a:p>
            <a:fld id="{427337DF-DDE6-4329-B991-8949DA4C999F}" type="datetimeFigureOut">
              <a:rPr lang="en-US" smtClean="0"/>
              <a:t>6/1/2026</a:t>
            </a:fld>
            <a:endParaRPr lang="en-US"/>
          </a:p>
        </p:txBody>
      </p:sp>
      <p:sp>
        <p:nvSpPr>
          <p:cNvPr id="4" name="Footer Placeholder 3"/>
          <p:cNvSpPr>
            <a:spLocks noGrp="1"/>
          </p:cNvSpPr>
          <p:nvPr>
            <p:ph type="ftr" sz="quarter" idx="2"/>
          </p:nvPr>
        </p:nvSpPr>
        <p:spPr>
          <a:xfrm>
            <a:off x="0" y="9119473"/>
            <a:ext cx="3169920" cy="48006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4143588" y="9119473"/>
            <a:ext cx="3169920" cy="480060"/>
          </a:xfrm>
          <a:prstGeom prst="rect">
            <a:avLst/>
          </a:prstGeom>
        </p:spPr>
        <p:txBody>
          <a:bodyPr vert="horz" lIns="91440" tIns="45720" rIns="91440" bIns="45720" rtlCol="0" anchor="b"/>
          <a:lstStyle>
            <a:lvl1pPr algn="r">
              <a:defRPr sz="1200"/>
            </a:lvl1pPr>
          </a:lstStyle>
          <a:p>
            <a:fld id="{36A0BA0E-BC4D-4CA7-A044-7582170402E8}" type="slidenum">
              <a:rPr lang="en-US" smtClean="0"/>
              <a:t>‹#›</a:t>
            </a:fld>
            <a:endParaRPr lang="en-US"/>
          </a:p>
        </p:txBody>
      </p:sp>
    </p:spTree>
    <p:extLst>
      <p:ext uri="{BB962C8B-B14F-4D97-AF65-F5344CB8AC3E}">
        <p14:creationId xmlns:p14="http://schemas.microsoft.com/office/powerpoint/2010/main" val="8497042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4143588" y="0"/>
            <a:ext cx="3169920" cy="480060"/>
          </a:xfrm>
          <a:prstGeom prst="rect">
            <a:avLst/>
          </a:prstGeom>
        </p:spPr>
        <p:txBody>
          <a:bodyPr vert="horz" lIns="91440" tIns="45720" rIns="91440" bIns="45720" rtlCol="0"/>
          <a:lstStyle>
            <a:lvl1pPr algn="r">
              <a:defRPr sz="1200"/>
            </a:lvl1pPr>
          </a:lstStyle>
          <a:p>
            <a:fld id="{39794E18-8E48-4968-8FD9-0351CFA90743}" type="datetimeFigureOut">
              <a:rPr lang="en-GB" smtClean="0"/>
              <a:t>01/06/2026</a:t>
            </a:fld>
            <a:endParaRPr lang="en-GB"/>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731521" y="4560570"/>
            <a:ext cx="5852160" cy="432054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119473"/>
            <a:ext cx="3169920" cy="48006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4143588" y="9119473"/>
            <a:ext cx="3169920" cy="480060"/>
          </a:xfrm>
          <a:prstGeom prst="rect">
            <a:avLst/>
          </a:prstGeom>
        </p:spPr>
        <p:txBody>
          <a:bodyPr vert="horz" lIns="91440" tIns="45720" rIns="91440" bIns="45720" rtlCol="0" anchor="b"/>
          <a:lstStyle>
            <a:lvl1pPr algn="r">
              <a:defRPr sz="1200"/>
            </a:lvl1pPr>
          </a:lstStyle>
          <a:p>
            <a:fld id="{CDAE0073-C388-4BBC-94F1-A3FD064D5EAA}" type="slidenum">
              <a:rPr lang="en-GB" smtClean="0"/>
              <a:t>‹#›</a:t>
            </a:fld>
            <a:endParaRPr lang="en-GB"/>
          </a:p>
        </p:txBody>
      </p:sp>
    </p:spTree>
    <p:extLst>
      <p:ext uri="{BB962C8B-B14F-4D97-AF65-F5344CB8AC3E}">
        <p14:creationId xmlns:p14="http://schemas.microsoft.com/office/powerpoint/2010/main" val="1681304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AE0073-C388-4BBC-94F1-A3FD064D5EAA}" type="slidenum">
              <a:rPr lang="en-GB" smtClean="0"/>
              <a:t>1</a:t>
            </a:fld>
            <a:endParaRPr lang="en-GB"/>
          </a:p>
        </p:txBody>
      </p:sp>
    </p:spTree>
    <p:extLst>
      <p:ext uri="{BB962C8B-B14F-4D97-AF65-F5344CB8AC3E}">
        <p14:creationId xmlns:p14="http://schemas.microsoft.com/office/powerpoint/2010/main" val="28355668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noProof="1"/>
              <a:t>Phiên bản ngắn hơn:</a:t>
            </a:r>
          </a:p>
          <a:p>
            <a:r>
              <a:rPr lang="en-US" b="1" dirty="0"/>
              <a:t>Requirement Modeling</a:t>
            </a:r>
          </a:p>
          <a:p>
            <a:r>
              <a:rPr lang="en-US" dirty="0" err="1"/>
              <a:t>Mục</a:t>
            </a:r>
            <a:r>
              <a:rPr lang="en-US" dirty="0"/>
              <a:t> </a:t>
            </a:r>
            <a:r>
              <a:rPr lang="en-US" dirty="0" err="1"/>
              <a:t>tiêu</a:t>
            </a:r>
            <a:r>
              <a:rPr lang="en-US" dirty="0"/>
              <a:t> </a:t>
            </a:r>
            <a:r>
              <a:rPr lang="en-US" dirty="0" err="1"/>
              <a:t>là</a:t>
            </a:r>
            <a:r>
              <a:rPr lang="en-US" dirty="0"/>
              <a:t>: </a:t>
            </a:r>
            <a:r>
              <a:rPr lang="en-US" dirty="0" err="1"/>
              <a:t>hiểu</a:t>
            </a:r>
            <a:r>
              <a:rPr lang="en-US" dirty="0"/>
              <a:t> </a:t>
            </a:r>
            <a:r>
              <a:rPr lang="en-US" dirty="0" err="1"/>
              <a:t>bài</a:t>
            </a:r>
            <a:r>
              <a:rPr lang="en-US" dirty="0"/>
              <a:t> </a:t>
            </a:r>
            <a:r>
              <a:rPr lang="en-US" dirty="0" err="1"/>
              <a:t>toán</a:t>
            </a:r>
            <a:r>
              <a:rPr lang="en-US" dirty="0"/>
              <a:t> </a:t>
            </a:r>
            <a:r>
              <a:rPr lang="en-US" dirty="0" err="1"/>
              <a:t>thực</a:t>
            </a:r>
            <a:r>
              <a:rPr lang="en-US" dirty="0"/>
              <a:t> </a:t>
            </a:r>
            <a:r>
              <a:rPr lang="en-US" dirty="0" err="1"/>
              <a:t>tế</a:t>
            </a:r>
            <a:r>
              <a:rPr lang="en-US" dirty="0"/>
              <a:t> (problem domain).</a:t>
            </a:r>
          </a:p>
          <a:p>
            <a:r>
              <a:rPr lang="en-US" dirty="0" err="1"/>
              <a:t>Người</a:t>
            </a:r>
            <a:r>
              <a:rPr lang="en-US" dirty="0"/>
              <a:t> ta </a:t>
            </a:r>
            <a:r>
              <a:rPr lang="en-US" dirty="0" err="1"/>
              <a:t>dùng</a:t>
            </a:r>
            <a:r>
              <a:rPr lang="en-US" dirty="0"/>
              <a:t>:</a:t>
            </a:r>
          </a:p>
          <a:p>
            <a:r>
              <a:rPr lang="en-US" b="1" dirty="0"/>
              <a:t>Use case modeling</a:t>
            </a:r>
            <a:r>
              <a:rPr lang="en-US" dirty="0"/>
              <a:t> </a:t>
            </a:r>
          </a:p>
          <a:p>
            <a:pPr lvl="1"/>
            <a:r>
              <a:rPr lang="en-US" dirty="0" err="1"/>
              <a:t>xác</a:t>
            </a:r>
            <a:r>
              <a:rPr lang="en-US" dirty="0"/>
              <a:t> </a:t>
            </a:r>
            <a:r>
              <a:rPr lang="en-US" dirty="0" err="1"/>
              <a:t>định</a:t>
            </a:r>
            <a:r>
              <a:rPr lang="en-US" dirty="0"/>
              <a:t> actor, use case, use case diagram </a:t>
            </a:r>
          </a:p>
          <a:p>
            <a:pPr lvl="1"/>
            <a:r>
              <a:rPr lang="en-US" dirty="0" err="1"/>
              <a:t>xem</a:t>
            </a:r>
            <a:r>
              <a:rPr lang="en-US" dirty="0"/>
              <a:t> </a:t>
            </a:r>
            <a:r>
              <a:rPr lang="en-US" dirty="0" err="1"/>
              <a:t>người</a:t>
            </a:r>
            <a:r>
              <a:rPr lang="en-US" dirty="0"/>
              <a:t> </a:t>
            </a:r>
            <a:r>
              <a:rPr lang="en-US" dirty="0" err="1"/>
              <a:t>dùng</a:t>
            </a:r>
            <a:r>
              <a:rPr lang="en-US" dirty="0"/>
              <a:t> </a:t>
            </a:r>
            <a:r>
              <a:rPr lang="en-US" dirty="0" err="1"/>
              <a:t>tương</a:t>
            </a:r>
            <a:r>
              <a:rPr lang="en-US" dirty="0"/>
              <a:t> </a:t>
            </a:r>
            <a:r>
              <a:rPr lang="en-US" dirty="0" err="1"/>
              <a:t>tác</a:t>
            </a:r>
            <a:r>
              <a:rPr lang="en-US" dirty="0"/>
              <a:t> </a:t>
            </a:r>
            <a:r>
              <a:rPr lang="en-US" dirty="0" err="1"/>
              <a:t>với</a:t>
            </a:r>
            <a:r>
              <a:rPr lang="en-US" dirty="0"/>
              <a:t> </a:t>
            </a:r>
            <a:r>
              <a:rPr lang="en-US" dirty="0" err="1"/>
              <a:t>hệ</a:t>
            </a:r>
            <a:r>
              <a:rPr lang="en-US" dirty="0"/>
              <a:t> </a:t>
            </a:r>
            <a:r>
              <a:rPr lang="en-US" dirty="0" err="1"/>
              <a:t>thống</a:t>
            </a:r>
            <a:r>
              <a:rPr lang="en-US" dirty="0"/>
              <a:t> </a:t>
            </a:r>
            <a:r>
              <a:rPr lang="en-US" dirty="0" err="1"/>
              <a:t>thế</a:t>
            </a:r>
            <a:r>
              <a:rPr lang="en-US" dirty="0"/>
              <a:t> </a:t>
            </a:r>
            <a:r>
              <a:rPr lang="en-US" dirty="0" err="1"/>
              <a:t>nào</a:t>
            </a:r>
            <a:r>
              <a:rPr lang="en-US" dirty="0"/>
              <a:t>. </a:t>
            </a:r>
          </a:p>
          <a:p>
            <a:r>
              <a:rPr lang="en-US" b="1" dirty="0"/>
              <a:t>Static modeling</a:t>
            </a:r>
            <a:r>
              <a:rPr lang="en-US" dirty="0"/>
              <a:t> </a:t>
            </a:r>
          </a:p>
          <a:p>
            <a:pPr lvl="1"/>
            <a:r>
              <a:rPr lang="en-US" dirty="0" err="1"/>
              <a:t>mô</a:t>
            </a:r>
            <a:r>
              <a:rPr lang="en-US" dirty="0"/>
              <a:t> </a:t>
            </a:r>
            <a:r>
              <a:rPr lang="en-US" dirty="0" err="1"/>
              <a:t>tả</a:t>
            </a:r>
            <a:r>
              <a:rPr lang="en-US" dirty="0"/>
              <a:t> </a:t>
            </a:r>
            <a:r>
              <a:rPr lang="en-US" dirty="0" err="1"/>
              <a:t>quan</a:t>
            </a:r>
            <a:r>
              <a:rPr lang="en-US" dirty="0"/>
              <a:t> </a:t>
            </a:r>
            <a:r>
              <a:rPr lang="en-US" dirty="0" err="1"/>
              <a:t>hệ</a:t>
            </a:r>
            <a:r>
              <a:rPr lang="en-US" dirty="0"/>
              <a:t> </a:t>
            </a:r>
            <a:r>
              <a:rPr lang="en-US" dirty="0" err="1"/>
              <a:t>giữa</a:t>
            </a:r>
            <a:r>
              <a:rPr lang="en-US" dirty="0"/>
              <a:t> </a:t>
            </a:r>
            <a:r>
              <a:rPr lang="en-US" dirty="0" err="1"/>
              <a:t>các</a:t>
            </a:r>
            <a:r>
              <a:rPr lang="en-US" dirty="0"/>
              <a:t> class/object </a:t>
            </a:r>
          </a:p>
          <a:p>
            <a:pPr lvl="1"/>
            <a:r>
              <a:rPr lang="en-US" dirty="0" err="1"/>
              <a:t>dùng</a:t>
            </a:r>
            <a:r>
              <a:rPr lang="en-US" dirty="0"/>
              <a:t> class diagram, entity model... </a:t>
            </a:r>
          </a:p>
          <a:p>
            <a:pPr marL="171450" indent="-171450">
              <a:buFont typeface="Symbol" panose="05050102010706020507" pitchFamily="18" charset="2"/>
              <a:buChar char="Þ"/>
            </a:pPr>
            <a:r>
              <a:rPr lang="en-US" dirty="0" err="1"/>
              <a:t>để</a:t>
            </a:r>
            <a:r>
              <a:rPr lang="en-US" dirty="0"/>
              <a:t> </a:t>
            </a:r>
            <a:r>
              <a:rPr lang="en-US" dirty="0" err="1"/>
              <a:t>hiểu</a:t>
            </a:r>
            <a:r>
              <a:rPr lang="en-US" dirty="0"/>
              <a:t> </a:t>
            </a:r>
            <a:r>
              <a:rPr lang="en-US" dirty="0" err="1"/>
              <a:t>hệ</a:t>
            </a:r>
            <a:r>
              <a:rPr lang="en-US" dirty="0"/>
              <a:t> </a:t>
            </a:r>
            <a:r>
              <a:rPr lang="en-US" dirty="0" err="1"/>
              <a:t>thống</a:t>
            </a:r>
            <a:r>
              <a:rPr lang="en-US" dirty="0"/>
              <a:t> </a:t>
            </a:r>
            <a:r>
              <a:rPr lang="en-US" dirty="0" err="1"/>
              <a:t>cần</a:t>
            </a:r>
            <a:r>
              <a:rPr lang="en-US" dirty="0"/>
              <a:t> </a:t>
            </a:r>
            <a:r>
              <a:rPr lang="en-US" dirty="0" err="1"/>
              <a:t>gì</a:t>
            </a:r>
            <a:r>
              <a:rPr lang="en-US" dirty="0"/>
              <a:t>.</a:t>
            </a:r>
          </a:p>
          <a:p>
            <a:r>
              <a:rPr lang="en-US" b="1" dirty="0"/>
              <a:t>Object and Class Structuring</a:t>
            </a:r>
          </a:p>
          <a:p>
            <a:r>
              <a:rPr lang="en-US" dirty="0" err="1"/>
              <a:t>Mục</a:t>
            </a:r>
            <a:r>
              <a:rPr lang="en-US" dirty="0"/>
              <a:t> </a:t>
            </a:r>
            <a:r>
              <a:rPr lang="en-US" dirty="0" err="1"/>
              <a:t>tiêu</a:t>
            </a:r>
            <a:r>
              <a:rPr lang="en-US" dirty="0"/>
              <a:t> </a:t>
            </a:r>
            <a:r>
              <a:rPr lang="en-US" dirty="0" err="1"/>
              <a:t>là</a:t>
            </a:r>
            <a:r>
              <a:rPr lang="en-US" dirty="0"/>
              <a:t>: </a:t>
            </a:r>
            <a:r>
              <a:rPr lang="en-US" dirty="0" err="1"/>
              <a:t>xác</a:t>
            </a:r>
            <a:r>
              <a:rPr lang="en-US" dirty="0"/>
              <a:t> </a:t>
            </a:r>
            <a:r>
              <a:rPr lang="en-US" dirty="0" err="1"/>
              <a:t>định</a:t>
            </a:r>
            <a:r>
              <a:rPr lang="en-US" dirty="0"/>
              <a:t> </a:t>
            </a:r>
            <a:r>
              <a:rPr lang="en-US" dirty="0" err="1"/>
              <a:t>các</a:t>
            </a:r>
            <a:r>
              <a:rPr lang="en-US" dirty="0"/>
              <a:t> object/class </a:t>
            </a:r>
            <a:r>
              <a:rPr lang="en-US" dirty="0" err="1"/>
              <a:t>phần</a:t>
            </a:r>
            <a:r>
              <a:rPr lang="en-US" dirty="0"/>
              <a:t> </a:t>
            </a:r>
            <a:r>
              <a:rPr lang="en-US" dirty="0" err="1"/>
              <a:t>mềm</a:t>
            </a:r>
            <a:r>
              <a:rPr lang="en-US" dirty="0"/>
              <a:t> </a:t>
            </a:r>
            <a:r>
              <a:rPr lang="en-US" dirty="0" err="1"/>
              <a:t>trong</a:t>
            </a:r>
            <a:r>
              <a:rPr lang="en-US" dirty="0"/>
              <a:t> </a:t>
            </a:r>
            <a:r>
              <a:rPr lang="en-US" dirty="0" err="1"/>
              <a:t>hệ</a:t>
            </a:r>
            <a:r>
              <a:rPr lang="en-US" dirty="0"/>
              <a:t> </a:t>
            </a:r>
            <a:r>
              <a:rPr lang="en-US" dirty="0" err="1"/>
              <a:t>thống</a:t>
            </a:r>
            <a:r>
              <a:rPr lang="en-US" dirty="0"/>
              <a:t>.</a:t>
            </a:r>
          </a:p>
          <a:p>
            <a:r>
              <a:rPr lang="en-US" dirty="0"/>
              <a:t>Thường </a:t>
            </a:r>
            <a:r>
              <a:rPr lang="en-US" dirty="0" err="1"/>
              <a:t>tập</a:t>
            </a:r>
            <a:r>
              <a:rPr lang="en-US" dirty="0"/>
              <a:t> </a:t>
            </a:r>
            <a:r>
              <a:rPr lang="en-US" dirty="0" err="1"/>
              <a:t>trung</a:t>
            </a:r>
            <a:r>
              <a:rPr lang="en-US" dirty="0"/>
              <a:t> </a:t>
            </a:r>
            <a:r>
              <a:rPr lang="en-US" dirty="0" err="1"/>
              <a:t>vào</a:t>
            </a:r>
            <a:r>
              <a:rPr lang="en-US" dirty="0"/>
              <a:t>: </a:t>
            </a:r>
            <a:r>
              <a:rPr lang="en-US" dirty="0" err="1"/>
              <a:t>các</a:t>
            </a:r>
            <a:r>
              <a:rPr lang="en-US" dirty="0"/>
              <a:t> class </a:t>
            </a:r>
            <a:r>
              <a:rPr lang="en-US" dirty="0" err="1"/>
              <a:t>mô</a:t>
            </a:r>
            <a:r>
              <a:rPr lang="en-US" dirty="0"/>
              <a:t> </a:t>
            </a:r>
            <a:r>
              <a:rPr lang="en-US" dirty="0" err="1"/>
              <a:t>phỏng</a:t>
            </a:r>
            <a:r>
              <a:rPr lang="en-US" dirty="0"/>
              <a:t> </a:t>
            </a:r>
            <a:r>
              <a:rPr lang="en-US" dirty="0" err="1"/>
              <a:t>đối</a:t>
            </a:r>
            <a:r>
              <a:rPr lang="en-US" dirty="0"/>
              <a:t> </a:t>
            </a:r>
            <a:r>
              <a:rPr lang="en-US" dirty="0" err="1"/>
              <a:t>tượng</a:t>
            </a:r>
            <a:r>
              <a:rPr lang="en-US" dirty="0"/>
              <a:t> </a:t>
            </a:r>
            <a:r>
              <a:rPr lang="en-US" dirty="0" err="1"/>
              <a:t>ngoài</a:t>
            </a:r>
            <a:r>
              <a:rPr lang="en-US" dirty="0"/>
              <a:t> </a:t>
            </a:r>
            <a:r>
              <a:rPr lang="en-US" dirty="0" err="1"/>
              <a:t>đời</a:t>
            </a:r>
            <a:r>
              <a:rPr lang="en-US" dirty="0"/>
              <a:t> </a:t>
            </a:r>
            <a:r>
              <a:rPr lang="en-US" dirty="0" err="1"/>
              <a:t>thật</a:t>
            </a:r>
            <a:r>
              <a:rPr lang="en-US" dirty="0"/>
              <a:t> (User, Order, Product... )</a:t>
            </a:r>
          </a:p>
          <a:p>
            <a:r>
              <a:rPr lang="en-US" dirty="0"/>
              <a:t>Sau </a:t>
            </a:r>
            <a:r>
              <a:rPr lang="en-US" dirty="0" err="1"/>
              <a:t>đó</a:t>
            </a:r>
            <a:r>
              <a:rPr lang="en-US" dirty="0"/>
              <a:t> </a:t>
            </a:r>
            <a:r>
              <a:rPr lang="en-US" dirty="0" err="1"/>
              <a:t>phân</a:t>
            </a:r>
            <a:r>
              <a:rPr lang="en-US" dirty="0"/>
              <a:t> </a:t>
            </a:r>
            <a:r>
              <a:rPr lang="en-US" dirty="0" err="1"/>
              <a:t>loại</a:t>
            </a:r>
            <a:r>
              <a:rPr lang="en-US" dirty="0"/>
              <a:t> </a:t>
            </a:r>
            <a:r>
              <a:rPr lang="en-US" dirty="0" err="1"/>
              <a:t>các</a:t>
            </a:r>
            <a:r>
              <a:rPr lang="en-US" dirty="0"/>
              <a:t> class </a:t>
            </a:r>
            <a:r>
              <a:rPr lang="en-US" dirty="0" err="1"/>
              <a:t>theo</a:t>
            </a:r>
            <a:r>
              <a:rPr lang="en-US" dirty="0"/>
              <a:t> </a:t>
            </a:r>
            <a:r>
              <a:rPr lang="en-US" dirty="0" err="1"/>
              <a:t>đặc</a:t>
            </a:r>
            <a:r>
              <a:rPr lang="en-US" dirty="0"/>
              <a:t> </a:t>
            </a:r>
            <a:r>
              <a:rPr lang="en-US" dirty="0" err="1"/>
              <a:t>điểm</a:t>
            </a:r>
            <a:r>
              <a:rPr lang="en-US" dirty="0"/>
              <a:t> </a:t>
            </a:r>
            <a:r>
              <a:rPr lang="en-US" dirty="0" err="1"/>
              <a:t>giống</a:t>
            </a:r>
            <a:r>
              <a:rPr lang="en-US" dirty="0"/>
              <a:t> </a:t>
            </a:r>
            <a:r>
              <a:rPr lang="en-US" dirty="0" err="1"/>
              <a:t>nhau</a:t>
            </a:r>
            <a:r>
              <a:rPr lang="en-US" dirty="0"/>
              <a:t> </a:t>
            </a:r>
            <a:r>
              <a:rPr lang="en-US" dirty="0" err="1"/>
              <a:t>như</a:t>
            </a:r>
            <a:r>
              <a:rPr lang="en-US" dirty="0"/>
              <a:t>:</a:t>
            </a:r>
          </a:p>
          <a:p>
            <a:pPr marL="171450" indent="-171450">
              <a:buFontTx/>
              <a:buChar char="-"/>
            </a:pPr>
            <a:r>
              <a:rPr lang="en-US" dirty="0"/>
              <a:t>entity class </a:t>
            </a:r>
          </a:p>
          <a:p>
            <a:pPr marL="171450" indent="-171450">
              <a:buFontTx/>
              <a:buChar char="-"/>
            </a:pPr>
            <a:r>
              <a:rPr lang="en-US" dirty="0"/>
              <a:t>boundary class </a:t>
            </a:r>
          </a:p>
          <a:p>
            <a:pPr marL="171450" indent="-171450">
              <a:buFontTx/>
              <a:buChar char="-"/>
            </a:pPr>
            <a:r>
              <a:rPr lang="en-US" dirty="0"/>
              <a:t>control/business logic class... </a:t>
            </a:r>
          </a:p>
          <a:p>
            <a:r>
              <a:rPr lang="en-US" dirty="0" err="1"/>
              <a:t>để</a:t>
            </a:r>
            <a:r>
              <a:rPr lang="en-US" dirty="0"/>
              <a:t> </a:t>
            </a:r>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rõ</a:t>
            </a:r>
            <a:r>
              <a:rPr lang="en-US" dirty="0"/>
              <a:t> </a:t>
            </a:r>
            <a:r>
              <a:rPr lang="en-US" dirty="0" err="1"/>
              <a:t>ràng</a:t>
            </a:r>
            <a:r>
              <a:rPr lang="en-US" dirty="0"/>
              <a:t> </a:t>
            </a:r>
            <a:r>
              <a:rPr lang="en-US" dirty="0" err="1"/>
              <a:t>và</a:t>
            </a:r>
            <a:r>
              <a:rPr lang="en-US" dirty="0"/>
              <a:t> </a:t>
            </a:r>
            <a:r>
              <a:rPr lang="en-US" dirty="0" err="1"/>
              <a:t>dễ</a:t>
            </a:r>
            <a:r>
              <a:rPr lang="en-US" dirty="0"/>
              <a:t> </a:t>
            </a:r>
            <a:r>
              <a:rPr lang="en-US" dirty="0" err="1"/>
              <a:t>quản</a:t>
            </a:r>
            <a:r>
              <a:rPr lang="en-US" dirty="0"/>
              <a:t> </a:t>
            </a:r>
            <a:r>
              <a:rPr lang="en-US" dirty="0" err="1"/>
              <a:t>lý</a:t>
            </a:r>
            <a:r>
              <a:rPr lang="en-US" dirty="0"/>
              <a:t> </a:t>
            </a:r>
            <a:r>
              <a:rPr lang="en-US" dirty="0" err="1"/>
              <a:t>hơn</a:t>
            </a:r>
            <a:r>
              <a:rPr lang="en-US" dirty="0"/>
              <a:t>.</a:t>
            </a:r>
          </a:p>
          <a:p>
            <a:endParaRPr lang="en-US" b="1" noProof="1"/>
          </a:p>
          <a:p>
            <a:r>
              <a:rPr lang="en-US" noProof="1"/>
              <a:t>//=======================================</a:t>
            </a:r>
            <a:br>
              <a:rPr lang="en-US" noProof="1"/>
            </a:br>
            <a:r>
              <a:rPr lang="en-US" noProof="1"/>
              <a:t>“Requirement modeling” là để hiểu </a:t>
            </a:r>
            <a:r>
              <a:rPr lang="en-US" b="1" noProof="1"/>
              <a:t>miền vấn đề (problem domain)</a:t>
            </a:r>
            <a:r>
              <a:rPr lang="en-US" noProof="1"/>
              <a:t>.</a:t>
            </a:r>
          </a:p>
          <a:p>
            <a:r>
              <a:rPr lang="en-US" b="1" noProof="1"/>
              <a:t>Use case modeling</a:t>
            </a:r>
            <a:r>
              <a:rPr lang="en-US" noProof="1"/>
              <a:t>: mô hình hóa ca sử dụng gồm: </a:t>
            </a:r>
          </a:p>
          <a:p>
            <a:pPr lvl="1"/>
            <a:r>
              <a:rPr lang="en-US" noProof="1"/>
              <a:t>tác nhân (actors), </a:t>
            </a:r>
          </a:p>
          <a:p>
            <a:pPr lvl="1"/>
            <a:r>
              <a:rPr lang="en-US" noProof="1"/>
              <a:t>các ca sử dụng (UCs – Use Cases), </a:t>
            </a:r>
          </a:p>
          <a:p>
            <a:pPr lvl="1"/>
            <a:r>
              <a:rPr lang="en-US" noProof="1"/>
              <a:t>sơ đồ ca sử dụng (Use Case diagrams). </a:t>
            </a:r>
          </a:p>
          <a:p>
            <a:r>
              <a:rPr lang="en-US" b="1" noProof="1"/>
              <a:t>Static modeling</a:t>
            </a:r>
            <a:r>
              <a:rPr lang="en-US" noProof="1"/>
              <a:t>: mô hình hóa tĩnh gồm: </a:t>
            </a:r>
          </a:p>
          <a:p>
            <a:pPr lvl="1"/>
            <a:r>
              <a:rPr lang="en-US" noProof="1"/>
              <a:t>mối quan hệ giữa lớp/đối tượng (class/object relationships), </a:t>
            </a:r>
          </a:p>
          <a:p>
            <a:pPr lvl="1"/>
            <a:r>
              <a:rPr lang="en-US" noProof="1"/>
              <a:t>sơ đồ lớp ngữ cảnh hệ thống (system context class diagrams), </a:t>
            </a:r>
          </a:p>
          <a:p>
            <a:pPr lvl="1"/>
            <a:r>
              <a:rPr lang="en-US" noProof="1"/>
              <a:t>sơ đồ lớp ngữ cảnh phần mềm (software context class diagrams), </a:t>
            </a:r>
          </a:p>
          <a:p>
            <a:pPr lvl="1"/>
            <a:r>
              <a:rPr lang="en-US" noProof="1"/>
              <a:t>mô hình lớp thực thể (entity class models). </a:t>
            </a:r>
          </a:p>
          <a:p>
            <a:br>
              <a:rPr lang="en-US" noProof="1"/>
            </a:br>
            <a:endParaRPr lang="en-US" noProof="1"/>
          </a:p>
          <a:p>
            <a:r>
              <a:rPr lang="en-US" b="1" noProof="1"/>
              <a:t>Object and Class Structuring</a:t>
            </a:r>
            <a:r>
              <a:rPr lang="en-US" noProof="1"/>
              <a:t> là để xác định các đối tượng phần mềm trong hệ thống.</a:t>
            </a:r>
          </a:p>
          <a:p>
            <a:r>
              <a:rPr lang="en-US" noProof="1"/>
              <a:t>Trọng tâm là các đối tượng phần mềm mô phỏng các đối tượng ngoài đời thực trong miền vấn đề. </a:t>
            </a:r>
          </a:p>
          <a:p>
            <a:r>
              <a:rPr lang="en-US" noProof="1"/>
              <a:t>Các lớp ứng dụng (application classes) được phân loại nhằm nhóm các lớp có đặc điểm tương tự lại với nhau.</a:t>
            </a:r>
          </a:p>
          <a:p>
            <a:endParaRPr lang="en-US" noProof="1"/>
          </a:p>
        </p:txBody>
      </p:sp>
      <p:sp>
        <p:nvSpPr>
          <p:cNvPr id="4" name="Slide Number Placeholder 3"/>
          <p:cNvSpPr>
            <a:spLocks noGrp="1"/>
          </p:cNvSpPr>
          <p:nvPr>
            <p:ph type="sldNum" sz="quarter" idx="5"/>
          </p:nvPr>
        </p:nvSpPr>
        <p:spPr/>
        <p:txBody>
          <a:bodyPr/>
          <a:lstStyle/>
          <a:p>
            <a:fld id="{CDAE0073-C388-4BBC-94F1-A3FD064D5EAA}" type="slidenum">
              <a:rPr lang="en-GB" smtClean="0"/>
              <a:t>3</a:t>
            </a:fld>
            <a:endParaRPr lang="en-GB"/>
          </a:p>
        </p:txBody>
      </p:sp>
    </p:spTree>
    <p:extLst>
      <p:ext uri="{BB962C8B-B14F-4D97-AF65-F5344CB8AC3E}">
        <p14:creationId xmlns:p14="http://schemas.microsoft.com/office/powerpoint/2010/main" val="773198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CÂY PHÂN LOẠI CÁC NHÓM TRONG PHẦN MỀM</a:t>
            </a:r>
          </a:p>
          <a:p>
            <a:pPr marL="0" indent="0">
              <a:buFontTx/>
              <a:buNone/>
            </a:pPr>
            <a:r>
              <a:rPr lang="en-US" dirty="0" err="1"/>
              <a:t>Giải</a:t>
            </a:r>
            <a:r>
              <a:rPr lang="en-US" dirty="0"/>
              <a:t> </a:t>
            </a:r>
            <a:r>
              <a:rPr lang="en-US" dirty="0" err="1"/>
              <a:t>thích</a:t>
            </a:r>
            <a:r>
              <a:rPr lang="en-US" dirty="0"/>
              <a:t> </a:t>
            </a:r>
            <a:r>
              <a:rPr lang="en-US" dirty="0" err="1"/>
              <a:t>theo</a:t>
            </a:r>
            <a:r>
              <a:rPr lang="en-US" dirty="0"/>
              <a:t> </a:t>
            </a:r>
            <a:r>
              <a:rPr lang="en-US" dirty="0" err="1"/>
              <a:t>thứ</a:t>
            </a:r>
            <a:r>
              <a:rPr lang="en-US" dirty="0"/>
              <a:t> </a:t>
            </a:r>
            <a:r>
              <a:rPr lang="en-US" dirty="0" err="1"/>
              <a:t>tự</a:t>
            </a:r>
            <a:r>
              <a:rPr lang="en-US" dirty="0"/>
              <a:t>: «application class» -&gt; «boundary» -&gt; «entity» -&gt; «control» -&gt; «application logic»</a:t>
            </a:r>
          </a:p>
          <a:p>
            <a:pPr marL="0" indent="0">
              <a:buFontTx/>
              <a:buNone/>
            </a:pPr>
            <a:r>
              <a:rPr lang="en-US" dirty="0"/>
              <a:t>		(1)	       (2)	      (3)	  (4)	     (5)</a:t>
            </a:r>
          </a:p>
          <a:p>
            <a:pPr marL="0" indent="0">
              <a:buFontTx/>
              <a:buNone/>
            </a:pPr>
            <a:endParaRPr lang="en-US" dirty="0"/>
          </a:p>
          <a:p>
            <a:pPr marL="0" indent="0">
              <a:buFontTx/>
              <a:buNone/>
            </a:pPr>
            <a:r>
              <a:rPr lang="en-US" dirty="0"/>
              <a:t>(1): </a:t>
            </a:r>
            <a:r>
              <a:rPr lang="en-US" dirty="0" err="1"/>
              <a:t>là</a:t>
            </a:r>
            <a:r>
              <a:rPr lang="en-US" dirty="0"/>
              <a:t> </a:t>
            </a:r>
            <a:r>
              <a:rPr lang="en-US" dirty="0" err="1"/>
              <a:t>cái</a:t>
            </a:r>
            <a:r>
              <a:rPr lang="en-US" dirty="0"/>
              <a:t> “</a:t>
            </a:r>
            <a:r>
              <a:rPr lang="en-US" dirty="0" err="1"/>
              <a:t>gốc</a:t>
            </a:r>
            <a:r>
              <a:rPr lang="en-US" dirty="0"/>
              <a:t> </a:t>
            </a:r>
            <a:r>
              <a:rPr lang="en-US" dirty="0" err="1"/>
              <a:t>cây</a:t>
            </a:r>
            <a:r>
              <a:rPr lang="en-US" dirty="0"/>
              <a:t>”, </a:t>
            </a:r>
            <a:r>
              <a:rPr lang="en-US" dirty="0" err="1"/>
              <a:t>tức</a:t>
            </a:r>
            <a:r>
              <a:rPr lang="en-US" dirty="0"/>
              <a:t> </a:t>
            </a:r>
            <a:r>
              <a:rPr lang="en-US" dirty="0" err="1"/>
              <a:t>là</a:t>
            </a:r>
            <a:r>
              <a:rPr lang="en-US" dirty="0"/>
              <a:t> </a:t>
            </a:r>
            <a:r>
              <a:rPr lang="en-US" dirty="0" err="1"/>
              <a:t>nơi</a:t>
            </a:r>
            <a:r>
              <a:rPr lang="en-US" dirty="0"/>
              <a:t> </a:t>
            </a:r>
            <a:r>
              <a:rPr lang="en-US" dirty="0" err="1"/>
              <a:t>mọi</a:t>
            </a:r>
            <a:r>
              <a:rPr lang="en-US" dirty="0"/>
              <a:t> class </a:t>
            </a:r>
            <a:r>
              <a:rPr lang="en-US" dirty="0" err="1"/>
              <a:t>tồn</a:t>
            </a:r>
            <a:r>
              <a:rPr lang="en-US" dirty="0"/>
              <a:t> </a:t>
            </a:r>
            <a:r>
              <a:rPr lang="en-US" dirty="0" err="1"/>
              <a:t>tại</a:t>
            </a:r>
            <a:r>
              <a:rPr lang="en-US" dirty="0"/>
              <a:t> </a:t>
            </a:r>
            <a:r>
              <a:rPr lang="en-US" dirty="0" err="1"/>
              <a:t>trong</a:t>
            </a:r>
            <a:r>
              <a:rPr lang="en-US" dirty="0"/>
              <a:t> app, </a:t>
            </a:r>
            <a:r>
              <a:rPr lang="en-US" dirty="0" err="1"/>
              <a:t>tất</a:t>
            </a:r>
            <a:r>
              <a:rPr lang="en-US" dirty="0"/>
              <a:t> </a:t>
            </a:r>
            <a:r>
              <a:rPr lang="en-US" dirty="0" err="1"/>
              <a:t>tần</a:t>
            </a:r>
            <a:r>
              <a:rPr lang="en-US" dirty="0"/>
              <a:t> </a:t>
            </a:r>
            <a:r>
              <a:rPr lang="en-US" dirty="0" err="1"/>
              <a:t>tật</a:t>
            </a:r>
            <a:r>
              <a:rPr lang="en-US" dirty="0"/>
              <a:t> </a:t>
            </a:r>
            <a:r>
              <a:rPr lang="en-US" dirty="0" err="1"/>
              <a:t>những</a:t>
            </a:r>
            <a:r>
              <a:rPr lang="en-US" dirty="0"/>
              <a:t> </a:t>
            </a:r>
            <a:r>
              <a:rPr lang="en-US" dirty="0" err="1"/>
              <a:t>thứ</a:t>
            </a:r>
            <a:r>
              <a:rPr lang="en-US" dirty="0"/>
              <a:t> </a:t>
            </a:r>
            <a:r>
              <a:rPr lang="en-US" dirty="0" err="1"/>
              <a:t>bên</a:t>
            </a:r>
            <a:r>
              <a:rPr lang="en-US" dirty="0"/>
              <a:t> </a:t>
            </a:r>
            <a:r>
              <a:rPr lang="en-US" dirty="0" err="1"/>
              <a:t>dưới</a:t>
            </a:r>
            <a:r>
              <a:rPr lang="en-US" dirty="0"/>
              <a:t> </a:t>
            </a:r>
            <a:r>
              <a:rPr lang="en-US" dirty="0" err="1"/>
              <a:t>đều</a:t>
            </a:r>
            <a:r>
              <a:rPr lang="en-US" dirty="0"/>
              <a:t> </a:t>
            </a:r>
            <a:r>
              <a:rPr lang="en-US" dirty="0" err="1"/>
              <a:t>là</a:t>
            </a:r>
            <a:r>
              <a:rPr lang="en-US" dirty="0"/>
              <a:t> con </a:t>
            </a:r>
            <a:r>
              <a:rPr lang="en-US" dirty="0" err="1"/>
              <a:t>của</a:t>
            </a:r>
            <a:r>
              <a:rPr lang="en-US" dirty="0"/>
              <a:t> </a:t>
            </a:r>
            <a:r>
              <a:rPr lang="en-US" dirty="0" err="1"/>
              <a:t>nó</a:t>
            </a:r>
            <a:endParaRPr lang="en-US" dirty="0"/>
          </a:p>
          <a:p>
            <a:pPr marL="0" indent="0">
              <a:buFontTx/>
              <a:buNone/>
            </a:pPr>
            <a:r>
              <a:rPr lang="en-US" dirty="0"/>
              <a:t>(2): </a:t>
            </a:r>
            <a:r>
              <a:rPr lang="en-US" dirty="0" err="1"/>
              <a:t>là</a:t>
            </a:r>
            <a:r>
              <a:rPr lang="en-US" dirty="0"/>
              <a:t> </a:t>
            </a:r>
            <a:r>
              <a:rPr lang="en-US" dirty="0" err="1"/>
              <a:t>cái</a:t>
            </a:r>
            <a:r>
              <a:rPr lang="en-US" dirty="0"/>
              <a:t> </a:t>
            </a:r>
            <a:r>
              <a:rPr lang="en-US" dirty="0" err="1"/>
              <a:t>ranh</a:t>
            </a:r>
            <a:r>
              <a:rPr lang="en-US" dirty="0"/>
              <a:t> </a:t>
            </a:r>
            <a:r>
              <a:rPr lang="en-US" dirty="0" err="1"/>
              <a:t>giới</a:t>
            </a:r>
            <a:r>
              <a:rPr lang="en-US" dirty="0"/>
              <a:t> </a:t>
            </a:r>
            <a:r>
              <a:rPr lang="en-US" dirty="0" err="1"/>
              <a:t>giữa</a:t>
            </a:r>
            <a:r>
              <a:rPr lang="en-US" dirty="0"/>
              <a:t> app </a:t>
            </a:r>
            <a:r>
              <a:rPr lang="en-US" dirty="0" err="1"/>
              <a:t>và</a:t>
            </a:r>
            <a:r>
              <a:rPr lang="en-US" dirty="0"/>
              <a:t> </a:t>
            </a:r>
            <a:r>
              <a:rPr lang="en-US" dirty="0" err="1"/>
              <a:t>thế</a:t>
            </a:r>
            <a:r>
              <a:rPr lang="en-US" dirty="0"/>
              <a:t> </a:t>
            </a:r>
            <a:r>
              <a:rPr lang="en-US" dirty="0" err="1"/>
              <a:t>giới</a:t>
            </a:r>
            <a:r>
              <a:rPr lang="en-US" dirty="0"/>
              <a:t> </a:t>
            </a:r>
            <a:r>
              <a:rPr lang="en-US" dirty="0" err="1"/>
              <a:t>bên</a:t>
            </a:r>
            <a:r>
              <a:rPr lang="en-US" dirty="0"/>
              <a:t> </a:t>
            </a:r>
            <a:r>
              <a:rPr lang="en-US" dirty="0" err="1"/>
              <a:t>ngoài</a:t>
            </a:r>
            <a:r>
              <a:rPr lang="en-US" dirty="0"/>
              <a:t>, </a:t>
            </a:r>
            <a:r>
              <a:rPr lang="en-US" dirty="0" err="1"/>
              <a:t>tức</a:t>
            </a:r>
            <a:r>
              <a:rPr lang="en-US" dirty="0"/>
              <a:t> </a:t>
            </a:r>
            <a:r>
              <a:rPr lang="en-US" dirty="0" err="1"/>
              <a:t>là</a:t>
            </a:r>
            <a:r>
              <a:rPr lang="en-US" dirty="0"/>
              <a:t> </a:t>
            </a:r>
            <a:r>
              <a:rPr lang="en-US" dirty="0" err="1"/>
              <a:t>nơi</a:t>
            </a:r>
            <a:r>
              <a:rPr lang="en-US" dirty="0"/>
              <a:t> </a:t>
            </a:r>
            <a:r>
              <a:rPr lang="en-US" dirty="0" err="1"/>
              <a:t>nhận</a:t>
            </a:r>
            <a:r>
              <a:rPr lang="en-US" dirty="0"/>
              <a:t> data </a:t>
            </a:r>
            <a:r>
              <a:rPr lang="en-US" dirty="0" err="1"/>
              <a:t>vào</a:t>
            </a:r>
            <a:r>
              <a:rPr lang="en-US" dirty="0"/>
              <a:t> – </a:t>
            </a:r>
            <a:r>
              <a:rPr lang="en-US" dirty="0" err="1"/>
              <a:t>đưa</a:t>
            </a:r>
            <a:r>
              <a:rPr lang="en-US" dirty="0"/>
              <a:t> data </a:t>
            </a:r>
            <a:r>
              <a:rPr lang="en-US" dirty="0" err="1"/>
              <a:t>ra</a:t>
            </a:r>
            <a:r>
              <a:rPr lang="en-US" dirty="0"/>
              <a:t>, </a:t>
            </a:r>
            <a:r>
              <a:rPr lang="en-US" dirty="0" err="1"/>
              <a:t>và</a:t>
            </a:r>
            <a:r>
              <a:rPr lang="en-US" dirty="0"/>
              <a:t> </a:t>
            </a:r>
            <a:r>
              <a:rPr lang="en-US" dirty="0" err="1"/>
              <a:t>không</a:t>
            </a:r>
            <a:r>
              <a:rPr lang="en-US" dirty="0"/>
              <a:t> </a:t>
            </a:r>
            <a:r>
              <a:rPr lang="en-US" dirty="0" err="1"/>
              <a:t>phải</a:t>
            </a:r>
            <a:r>
              <a:rPr lang="en-US" dirty="0"/>
              <a:t> </a:t>
            </a:r>
            <a:r>
              <a:rPr lang="en-US" dirty="0" err="1"/>
              <a:t>nơi</a:t>
            </a:r>
            <a:r>
              <a:rPr lang="en-US" dirty="0"/>
              <a:t> </a:t>
            </a:r>
            <a:r>
              <a:rPr lang="en-US" dirty="0" err="1"/>
              <a:t>chứa</a:t>
            </a:r>
            <a:r>
              <a:rPr lang="en-US" dirty="0"/>
              <a:t> logic </a:t>
            </a:r>
            <a:r>
              <a:rPr lang="en-US" dirty="0" err="1"/>
              <a:t>nghiệp</a:t>
            </a:r>
            <a:r>
              <a:rPr lang="en-US" dirty="0"/>
              <a:t> </a:t>
            </a:r>
            <a:r>
              <a:rPr lang="en-US" dirty="0" err="1"/>
              <a:t>vụ</a:t>
            </a:r>
            <a:r>
              <a:rPr lang="en-US" dirty="0"/>
              <a:t> </a:t>
            </a:r>
            <a:r>
              <a:rPr lang="en-US" dirty="0" err="1"/>
              <a:t>phức</a:t>
            </a:r>
            <a:r>
              <a:rPr lang="en-US" dirty="0"/>
              <a:t> </a:t>
            </a:r>
            <a:r>
              <a:rPr lang="en-US" dirty="0" err="1"/>
              <a:t>tạp</a:t>
            </a:r>
            <a:r>
              <a:rPr lang="en-US" dirty="0"/>
              <a:t>, </a:t>
            </a:r>
            <a:r>
              <a:rPr lang="en-US" dirty="0" err="1"/>
              <a:t>nơi</a:t>
            </a:r>
            <a:r>
              <a:rPr lang="en-US" dirty="0"/>
              <a:t> </a:t>
            </a:r>
            <a:r>
              <a:rPr lang="en-US" dirty="0" err="1"/>
              <a:t>này</a:t>
            </a:r>
            <a:r>
              <a:rPr lang="en-US" dirty="0"/>
              <a:t> </a:t>
            </a:r>
            <a:r>
              <a:rPr lang="en-US" dirty="0" err="1"/>
              <a:t>có</a:t>
            </a:r>
            <a:r>
              <a:rPr lang="en-US" dirty="0"/>
              <a:t> </a:t>
            </a:r>
            <a:r>
              <a:rPr lang="en-US" dirty="0" err="1"/>
              <a:t>các</a:t>
            </a:r>
            <a:r>
              <a:rPr lang="en-US" dirty="0"/>
              <a:t> </a:t>
            </a:r>
            <a:r>
              <a:rPr lang="en-US" dirty="0" err="1"/>
              <a:t>thành</a:t>
            </a:r>
            <a:r>
              <a:rPr lang="en-US" dirty="0"/>
              <a:t> </a:t>
            </a:r>
            <a:r>
              <a:rPr lang="en-US" dirty="0" err="1"/>
              <a:t>phần</a:t>
            </a:r>
            <a:r>
              <a:rPr lang="en-US" dirty="0"/>
              <a:t> </a:t>
            </a:r>
            <a:r>
              <a:rPr lang="en-US" dirty="0" err="1"/>
              <a:t>nhỏ</a:t>
            </a:r>
            <a:r>
              <a:rPr lang="en-US" dirty="0"/>
              <a:t> </a:t>
            </a:r>
            <a:r>
              <a:rPr lang="en-US" dirty="0" err="1"/>
              <a:t>sau</a:t>
            </a:r>
            <a:r>
              <a:rPr lang="en-US" dirty="0"/>
              <a:t>:</a:t>
            </a:r>
          </a:p>
          <a:p>
            <a:pPr marL="0" indent="0">
              <a:buFontTx/>
              <a:buNone/>
            </a:pPr>
            <a:r>
              <a:rPr lang="en-US" dirty="0"/>
              <a:t>2.1 «user interaction»: </a:t>
            </a:r>
            <a:r>
              <a:rPr lang="en-US" dirty="0" err="1"/>
              <a:t>nơi</a:t>
            </a:r>
            <a:r>
              <a:rPr lang="en-US" dirty="0"/>
              <a:t> </a:t>
            </a:r>
            <a:r>
              <a:rPr lang="en-US" dirty="0" err="1"/>
              <a:t>người</a:t>
            </a:r>
            <a:r>
              <a:rPr lang="en-US" dirty="0"/>
              <a:t> </a:t>
            </a:r>
            <a:r>
              <a:rPr lang="en-US" dirty="0" err="1"/>
              <a:t>dùng</a:t>
            </a:r>
            <a:r>
              <a:rPr lang="en-US" dirty="0"/>
              <a:t> </a:t>
            </a:r>
            <a:r>
              <a:rPr lang="en-US" dirty="0" err="1"/>
              <a:t>chạm</a:t>
            </a:r>
            <a:r>
              <a:rPr lang="en-US" dirty="0"/>
              <a:t> </a:t>
            </a:r>
            <a:r>
              <a:rPr lang="en-US" dirty="0" err="1"/>
              <a:t>vào</a:t>
            </a:r>
            <a:r>
              <a:rPr lang="en-US" dirty="0"/>
              <a:t>, </a:t>
            </a:r>
            <a:r>
              <a:rPr lang="en-US" dirty="0" err="1"/>
              <a:t>ví</a:t>
            </a:r>
            <a:r>
              <a:rPr lang="en-US" dirty="0"/>
              <a:t> </a:t>
            </a:r>
            <a:r>
              <a:rPr lang="en-US" dirty="0" err="1"/>
              <a:t>dụ</a:t>
            </a:r>
            <a:r>
              <a:rPr lang="en-US" dirty="0"/>
              <a:t>: </a:t>
            </a:r>
            <a:r>
              <a:rPr lang="en-US" dirty="0" err="1"/>
              <a:t>màn</a:t>
            </a:r>
            <a:r>
              <a:rPr lang="en-US" dirty="0"/>
              <a:t> </a:t>
            </a:r>
            <a:r>
              <a:rPr lang="en-US" dirty="0" err="1"/>
              <a:t>hình</a:t>
            </a:r>
            <a:r>
              <a:rPr lang="en-US" dirty="0"/>
              <a:t> login, </a:t>
            </a:r>
            <a:r>
              <a:rPr lang="en-US" dirty="0" err="1"/>
              <a:t>nút</a:t>
            </a:r>
            <a:r>
              <a:rPr lang="en-US" dirty="0"/>
              <a:t> </a:t>
            </a:r>
            <a:r>
              <a:rPr lang="en-US" dirty="0" err="1"/>
              <a:t>bấm</a:t>
            </a:r>
            <a:r>
              <a:rPr lang="en-US" dirty="0"/>
              <a:t>, menu… </a:t>
            </a:r>
            <a:r>
              <a:rPr lang="en-US" dirty="0" err="1"/>
              <a:t>có</a:t>
            </a:r>
            <a:r>
              <a:rPr lang="en-US" dirty="0"/>
              <a:t> </a:t>
            </a:r>
            <a:r>
              <a:rPr lang="en-US" dirty="0" err="1"/>
              <a:t>nhiệm</a:t>
            </a:r>
            <a:r>
              <a:rPr lang="en-US" dirty="0"/>
              <a:t> </a:t>
            </a:r>
            <a:r>
              <a:rPr lang="en-US" dirty="0" err="1"/>
              <a:t>vụ</a:t>
            </a:r>
            <a:r>
              <a:rPr lang="en-US" dirty="0"/>
              <a:t> </a:t>
            </a:r>
            <a:r>
              <a:rPr lang="en-US" dirty="0" err="1"/>
              <a:t>hiển</a:t>
            </a:r>
            <a:r>
              <a:rPr lang="en-US" dirty="0"/>
              <a:t> </a:t>
            </a:r>
            <a:r>
              <a:rPr lang="en-US" dirty="0" err="1"/>
              <a:t>thị</a:t>
            </a:r>
            <a:r>
              <a:rPr lang="en-US" dirty="0"/>
              <a:t>, </a:t>
            </a:r>
            <a:r>
              <a:rPr lang="en-US" dirty="0" err="1"/>
              <a:t>nhận</a:t>
            </a:r>
            <a:r>
              <a:rPr lang="en-US" dirty="0"/>
              <a:t> </a:t>
            </a:r>
            <a:r>
              <a:rPr lang="en-US" dirty="0" err="1"/>
              <a:t>thao</a:t>
            </a:r>
            <a:r>
              <a:rPr lang="en-US" dirty="0"/>
              <a:t> </a:t>
            </a:r>
            <a:r>
              <a:rPr lang="en-US" dirty="0" err="1"/>
              <a:t>tác</a:t>
            </a:r>
            <a:endParaRPr lang="en-US" dirty="0"/>
          </a:p>
          <a:p>
            <a:pPr marL="0" indent="0">
              <a:buFontTx/>
              <a:buNone/>
            </a:pPr>
            <a:r>
              <a:rPr lang="en-US" dirty="0"/>
              <a:t>2.2 «device I/O»: </a:t>
            </a:r>
            <a:r>
              <a:rPr lang="en-US" dirty="0" err="1"/>
              <a:t>nơi</a:t>
            </a:r>
            <a:r>
              <a:rPr lang="en-US" dirty="0"/>
              <a:t> </a:t>
            </a:r>
            <a:r>
              <a:rPr lang="en-US" dirty="0" err="1"/>
              <a:t>mà</a:t>
            </a:r>
            <a:r>
              <a:rPr lang="en-US" dirty="0"/>
              <a:t> class </a:t>
            </a:r>
            <a:r>
              <a:rPr lang="en-US" dirty="0" err="1"/>
              <a:t>giao</a:t>
            </a:r>
            <a:r>
              <a:rPr lang="en-US" dirty="0"/>
              <a:t> </a:t>
            </a:r>
            <a:r>
              <a:rPr lang="en-US" dirty="0" err="1"/>
              <a:t>tiếp</a:t>
            </a:r>
            <a:r>
              <a:rPr lang="en-US" dirty="0"/>
              <a:t> </a:t>
            </a:r>
            <a:r>
              <a:rPr lang="en-US" dirty="0" err="1"/>
              <a:t>với</a:t>
            </a:r>
            <a:r>
              <a:rPr lang="en-US" dirty="0"/>
              <a:t> </a:t>
            </a:r>
            <a:r>
              <a:rPr lang="en-US" dirty="0" err="1"/>
              <a:t>thiết</a:t>
            </a:r>
            <a:r>
              <a:rPr lang="en-US" dirty="0"/>
              <a:t> </a:t>
            </a:r>
            <a:r>
              <a:rPr lang="en-US" dirty="0" err="1"/>
              <a:t>bị</a:t>
            </a:r>
            <a:r>
              <a:rPr lang="en-US" dirty="0"/>
              <a:t> (camera, printer…). </a:t>
            </a:r>
            <a:r>
              <a:rPr lang="en-US" dirty="0" err="1"/>
              <a:t>Tại</a:t>
            </a:r>
            <a:r>
              <a:rPr lang="en-US" dirty="0"/>
              <a:t> </a:t>
            </a:r>
            <a:r>
              <a:rPr lang="en-US" dirty="0" err="1"/>
              <a:t>đây</a:t>
            </a:r>
            <a:r>
              <a:rPr lang="en-US" dirty="0"/>
              <a:t> chia </a:t>
            </a:r>
            <a:r>
              <a:rPr lang="en-US" dirty="0" err="1"/>
              <a:t>tiếp</a:t>
            </a:r>
            <a:r>
              <a:rPr lang="en-US" dirty="0"/>
              <a:t> </a:t>
            </a:r>
            <a:r>
              <a:rPr lang="en-US" dirty="0" err="1"/>
              <a:t>thành</a:t>
            </a:r>
            <a:r>
              <a:rPr lang="en-US" dirty="0"/>
              <a:t> 3 </a:t>
            </a:r>
            <a:r>
              <a:rPr lang="en-US" dirty="0" err="1"/>
              <a:t>nhóm</a:t>
            </a:r>
            <a:endParaRPr lang="en-US" dirty="0"/>
          </a:p>
          <a:p>
            <a:pPr marL="0" indent="0">
              <a:buFontTx/>
              <a:buNone/>
            </a:pPr>
            <a:r>
              <a:rPr lang="en-US" dirty="0"/>
              <a:t>2.2.1 «input»: keyboard, micro…</a:t>
            </a:r>
          </a:p>
          <a:p>
            <a:pPr marL="0" indent="0">
              <a:buFontTx/>
              <a:buNone/>
            </a:pPr>
            <a:r>
              <a:rPr lang="en-US" dirty="0"/>
              <a:t>2.2.2 «output»: </a:t>
            </a:r>
            <a:r>
              <a:rPr lang="en-US" dirty="0" err="1"/>
              <a:t>màn</a:t>
            </a:r>
            <a:r>
              <a:rPr lang="en-US" dirty="0"/>
              <a:t> </a:t>
            </a:r>
            <a:r>
              <a:rPr lang="en-US" dirty="0" err="1"/>
              <a:t>hình</a:t>
            </a:r>
            <a:r>
              <a:rPr lang="en-US" dirty="0"/>
              <a:t>, loa…</a:t>
            </a:r>
          </a:p>
          <a:p>
            <a:pPr marL="0" indent="0">
              <a:buFontTx/>
              <a:buNone/>
            </a:pPr>
            <a:r>
              <a:rPr lang="en-US" dirty="0"/>
              <a:t>2.2.3 «input/output»: </a:t>
            </a:r>
            <a:r>
              <a:rPr lang="en-US" dirty="0" err="1"/>
              <a:t>vừa</a:t>
            </a:r>
            <a:r>
              <a:rPr lang="en-US" dirty="0"/>
              <a:t> </a:t>
            </a:r>
            <a:r>
              <a:rPr lang="en-US" dirty="0" err="1"/>
              <a:t>nhận</a:t>
            </a:r>
            <a:r>
              <a:rPr lang="en-US" dirty="0"/>
              <a:t> </a:t>
            </a:r>
            <a:r>
              <a:rPr lang="en-US" dirty="0" err="1"/>
              <a:t>vừa</a:t>
            </a:r>
            <a:r>
              <a:rPr lang="en-US" dirty="0"/>
              <a:t> </a:t>
            </a:r>
            <a:r>
              <a:rPr lang="en-US" dirty="0" err="1"/>
              <a:t>gửi</a:t>
            </a:r>
            <a:r>
              <a:rPr lang="en-US" dirty="0"/>
              <a:t>, </a:t>
            </a:r>
            <a:r>
              <a:rPr lang="en-US" dirty="0" err="1"/>
              <a:t>ví</a:t>
            </a:r>
            <a:r>
              <a:rPr lang="en-US" dirty="0"/>
              <a:t> </a:t>
            </a:r>
            <a:r>
              <a:rPr lang="en-US" dirty="0" err="1"/>
              <a:t>dụ</a:t>
            </a:r>
            <a:r>
              <a:rPr lang="en-US" dirty="0"/>
              <a:t>: socket, </a:t>
            </a:r>
            <a:r>
              <a:rPr lang="en-US" dirty="0" err="1"/>
              <a:t>websocket</a:t>
            </a:r>
            <a:r>
              <a:rPr lang="en-US" dirty="0"/>
              <a:t>, </a:t>
            </a:r>
            <a:r>
              <a:rPr lang="en-US" dirty="0" err="1"/>
              <a:t>bluetooth</a:t>
            </a:r>
            <a:r>
              <a:rPr lang="en-US" dirty="0"/>
              <a:t>…</a:t>
            </a:r>
          </a:p>
          <a:p>
            <a:pPr marL="0" indent="0">
              <a:buFontTx/>
              <a:buNone/>
            </a:pPr>
            <a:r>
              <a:rPr lang="en-US" dirty="0"/>
              <a:t>2.3 «proxy»: </a:t>
            </a:r>
            <a:r>
              <a:rPr lang="en-US" dirty="0" err="1"/>
              <a:t>đây</a:t>
            </a:r>
            <a:r>
              <a:rPr lang="en-US" dirty="0"/>
              <a:t> </a:t>
            </a:r>
            <a:r>
              <a:rPr lang="en-US" dirty="0" err="1"/>
              <a:t>là</a:t>
            </a:r>
            <a:r>
              <a:rPr lang="en-US" dirty="0"/>
              <a:t> class </a:t>
            </a:r>
            <a:r>
              <a:rPr lang="en-US" dirty="0" err="1"/>
              <a:t>cầu</a:t>
            </a:r>
            <a:r>
              <a:rPr lang="en-US" dirty="0"/>
              <a:t> </a:t>
            </a:r>
            <a:r>
              <a:rPr lang="en-US" dirty="0" err="1"/>
              <a:t>nối</a:t>
            </a:r>
            <a:r>
              <a:rPr lang="en-US" dirty="0"/>
              <a:t> </a:t>
            </a:r>
            <a:r>
              <a:rPr lang="en-US" dirty="0" err="1"/>
              <a:t>giữa</a:t>
            </a:r>
            <a:r>
              <a:rPr lang="en-US" dirty="0"/>
              <a:t> app </a:t>
            </a:r>
            <a:r>
              <a:rPr lang="en-US" dirty="0" err="1"/>
              <a:t>và</a:t>
            </a:r>
            <a:r>
              <a:rPr lang="en-US" dirty="0"/>
              <a:t> </a:t>
            </a:r>
            <a:r>
              <a:rPr lang="en-US" dirty="0" err="1"/>
              <a:t>hệ</a:t>
            </a:r>
            <a:r>
              <a:rPr lang="en-US" dirty="0"/>
              <a:t> </a:t>
            </a:r>
            <a:r>
              <a:rPr lang="en-US" dirty="0" err="1"/>
              <a:t>thống</a:t>
            </a:r>
            <a:r>
              <a:rPr lang="en-US" dirty="0"/>
              <a:t> </a:t>
            </a:r>
            <a:r>
              <a:rPr lang="en-US" dirty="0" err="1"/>
              <a:t>khác</a:t>
            </a:r>
            <a:r>
              <a:rPr lang="en-US" dirty="0"/>
              <a:t>, </a:t>
            </a:r>
            <a:r>
              <a:rPr lang="en-US" dirty="0" err="1"/>
              <a:t>tại</a:t>
            </a:r>
            <a:r>
              <a:rPr lang="en-US" dirty="0"/>
              <a:t> </a:t>
            </a:r>
            <a:r>
              <a:rPr lang="en-US" dirty="0" err="1"/>
              <a:t>sao</a:t>
            </a:r>
            <a:r>
              <a:rPr lang="en-US" dirty="0"/>
              <a:t> </a:t>
            </a:r>
            <a:r>
              <a:rPr lang="en-US" dirty="0" err="1"/>
              <a:t>cần</a:t>
            </a:r>
            <a:r>
              <a:rPr lang="en-US" dirty="0"/>
              <a:t>? </a:t>
            </a:r>
            <a:r>
              <a:rPr lang="en-US" dirty="0" err="1"/>
              <a:t>Vì</a:t>
            </a:r>
            <a:r>
              <a:rPr lang="en-US" dirty="0"/>
              <a:t> </a:t>
            </a:r>
            <a:r>
              <a:rPr lang="en-US" dirty="0" err="1"/>
              <a:t>nếu</a:t>
            </a:r>
            <a:r>
              <a:rPr lang="en-US" dirty="0"/>
              <a:t> API </a:t>
            </a:r>
            <a:r>
              <a:rPr lang="en-US" dirty="0" err="1"/>
              <a:t>bên</a:t>
            </a:r>
            <a:r>
              <a:rPr lang="en-US" dirty="0"/>
              <a:t> </a:t>
            </a:r>
            <a:r>
              <a:rPr lang="en-US" dirty="0" err="1"/>
              <a:t>ngoài</a:t>
            </a:r>
            <a:r>
              <a:rPr lang="en-US" dirty="0"/>
              <a:t> </a:t>
            </a:r>
            <a:r>
              <a:rPr lang="en-US" dirty="0" err="1"/>
              <a:t>đổi</a:t>
            </a:r>
            <a:r>
              <a:rPr lang="en-US" dirty="0"/>
              <a:t> </a:t>
            </a:r>
            <a:r>
              <a:rPr lang="en-US" dirty="0" err="1"/>
              <a:t>thì</a:t>
            </a:r>
            <a:r>
              <a:rPr lang="en-US" dirty="0"/>
              <a:t> </a:t>
            </a:r>
            <a:r>
              <a:rPr lang="en-US" dirty="0" err="1"/>
              <a:t>chỉ</a:t>
            </a:r>
            <a:r>
              <a:rPr lang="en-US" dirty="0"/>
              <a:t> </a:t>
            </a:r>
            <a:r>
              <a:rPr lang="en-US" dirty="0" err="1"/>
              <a:t>sửa</a:t>
            </a:r>
            <a:r>
              <a:rPr lang="en-US" dirty="0"/>
              <a:t> proxy, ko </a:t>
            </a:r>
            <a:r>
              <a:rPr lang="en-US" dirty="0" err="1"/>
              <a:t>phải</a:t>
            </a:r>
            <a:r>
              <a:rPr lang="en-US" dirty="0"/>
              <a:t> </a:t>
            </a:r>
            <a:r>
              <a:rPr lang="en-US" dirty="0" err="1"/>
              <a:t>cả</a:t>
            </a:r>
            <a:r>
              <a:rPr lang="en-US" dirty="0"/>
              <a:t> app</a:t>
            </a:r>
          </a:p>
          <a:p>
            <a:pPr marL="0" indent="0">
              <a:buFontTx/>
              <a:buNone/>
            </a:pPr>
            <a:r>
              <a:rPr lang="en-US" dirty="0"/>
              <a:t>(3): </a:t>
            </a:r>
            <a:r>
              <a:rPr lang="en-US" dirty="0" err="1"/>
              <a:t>đây</a:t>
            </a:r>
            <a:r>
              <a:rPr lang="en-US" dirty="0"/>
              <a:t> </a:t>
            </a:r>
            <a:r>
              <a:rPr lang="en-US" dirty="0" err="1"/>
              <a:t>là</a:t>
            </a:r>
            <a:r>
              <a:rPr lang="en-US" dirty="0"/>
              <a:t> </a:t>
            </a:r>
            <a:r>
              <a:rPr lang="en-US" dirty="0" err="1"/>
              <a:t>dữ</a:t>
            </a:r>
            <a:r>
              <a:rPr lang="en-US" dirty="0"/>
              <a:t> </a:t>
            </a:r>
            <a:r>
              <a:rPr lang="en-US" dirty="0" err="1"/>
              <a:t>liệu</a:t>
            </a:r>
            <a:r>
              <a:rPr lang="en-US" dirty="0"/>
              <a:t> </a:t>
            </a:r>
            <a:r>
              <a:rPr lang="en-US" dirty="0" err="1"/>
              <a:t>cốt</a:t>
            </a:r>
            <a:r>
              <a:rPr lang="en-US" dirty="0"/>
              <a:t> </a:t>
            </a:r>
            <a:r>
              <a:rPr lang="en-US" dirty="0" err="1"/>
              <a:t>lõi</a:t>
            </a:r>
            <a:r>
              <a:rPr lang="en-US" dirty="0"/>
              <a:t> </a:t>
            </a:r>
            <a:r>
              <a:rPr lang="en-US" dirty="0" err="1"/>
              <a:t>của</a:t>
            </a:r>
            <a:r>
              <a:rPr lang="en-US" dirty="0"/>
              <a:t> domain</a:t>
            </a:r>
          </a:p>
        </p:txBody>
      </p:sp>
      <p:sp>
        <p:nvSpPr>
          <p:cNvPr id="4" name="Slide Number Placeholder 3"/>
          <p:cNvSpPr>
            <a:spLocks noGrp="1"/>
          </p:cNvSpPr>
          <p:nvPr>
            <p:ph type="sldNum" sz="quarter" idx="5"/>
          </p:nvPr>
        </p:nvSpPr>
        <p:spPr/>
        <p:txBody>
          <a:bodyPr/>
          <a:lstStyle/>
          <a:p>
            <a:fld id="{CDAE0073-C388-4BBC-94F1-A3FD064D5EAA}" type="slidenum">
              <a:rPr lang="en-GB" smtClean="0"/>
              <a:t>4</a:t>
            </a:fld>
            <a:endParaRPr lang="en-GB"/>
          </a:p>
        </p:txBody>
      </p:sp>
    </p:spTree>
    <p:extLst>
      <p:ext uri="{BB962C8B-B14F-4D97-AF65-F5344CB8AC3E}">
        <p14:creationId xmlns:p14="http://schemas.microsoft.com/office/powerpoint/2010/main" val="4109628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Phiên</a:t>
            </a:r>
            <a:r>
              <a:rPr lang="en-US" dirty="0"/>
              <a:t> </a:t>
            </a:r>
            <a:r>
              <a:rPr lang="en-US" dirty="0" err="1"/>
              <a:t>bản</a:t>
            </a:r>
            <a:r>
              <a:rPr lang="en-US" dirty="0"/>
              <a:t> </a:t>
            </a:r>
            <a:r>
              <a:rPr lang="en-US" dirty="0" err="1"/>
              <a:t>ngắn</a:t>
            </a:r>
            <a:r>
              <a:rPr lang="en-US" dirty="0"/>
              <a:t> </a:t>
            </a:r>
            <a:r>
              <a:rPr lang="en-US" dirty="0" err="1"/>
              <a:t>hơn</a:t>
            </a:r>
            <a:r>
              <a:rPr lang="en-US" dirty="0"/>
              <a:t>: </a:t>
            </a:r>
          </a:p>
          <a:p>
            <a:r>
              <a:rPr lang="en-US" dirty="0"/>
              <a:t>- </a:t>
            </a:r>
            <a:r>
              <a:rPr lang="vi-VN" dirty="0"/>
              <a:t>Application Logic Object</a:t>
            </a:r>
            <a:r>
              <a:rPr lang="en-US" dirty="0"/>
              <a:t>: đ</a:t>
            </a:r>
            <a:r>
              <a:rPr lang="vi-VN" dirty="0"/>
              <a:t>ây là object chịu trách nhiệm xử lý nghiệp vụ / thuật toán.</a:t>
            </a:r>
            <a:endParaRPr lang="en-US" dirty="0"/>
          </a:p>
          <a:p>
            <a:pPr marL="0" indent="0">
              <a:buFontTx/>
              <a:buNone/>
            </a:pPr>
            <a:r>
              <a:rPr lang="en-US" dirty="0"/>
              <a:t>- </a:t>
            </a:r>
            <a:r>
              <a:rPr lang="vi-VN" dirty="0"/>
              <a:t>Người ta tách riêng phần này khỏi dữ liệu để:</a:t>
            </a:r>
            <a:r>
              <a:rPr lang="en-US" dirty="0"/>
              <a:t> </a:t>
            </a:r>
            <a:r>
              <a:rPr lang="vi-VN" dirty="0"/>
              <a:t>dễ sửa logic sau này</a:t>
            </a:r>
            <a:r>
              <a:rPr lang="en-US" dirty="0"/>
              <a:t>, </a:t>
            </a:r>
            <a:r>
              <a:rPr lang="vi-VN" dirty="0"/>
              <a:t>không ảnh hưởng tới dữ liệu</a:t>
            </a:r>
            <a:r>
              <a:rPr lang="en-US" dirty="0"/>
              <a:t>, </a:t>
            </a:r>
            <a:r>
              <a:rPr lang="vi-VN" dirty="0"/>
              <a:t>code dễ bảo trì hơn.</a:t>
            </a:r>
            <a:endParaRPr lang="en-US" dirty="0"/>
          </a:p>
          <a:p>
            <a:r>
              <a:rPr lang="en-US" dirty="0"/>
              <a:t>//============================================</a:t>
            </a:r>
            <a:br>
              <a:rPr lang="en-US" dirty="0"/>
            </a:br>
            <a:r>
              <a:rPr lang="en-US" dirty="0" err="1"/>
              <a:t>Đối</a:t>
            </a:r>
            <a:r>
              <a:rPr lang="en-US" dirty="0"/>
              <a:t> </a:t>
            </a:r>
            <a:r>
              <a:rPr lang="en-US" dirty="0" err="1"/>
              <a:t>tượng</a:t>
            </a:r>
            <a:r>
              <a:rPr lang="en-US" dirty="0"/>
              <a:t> logic </a:t>
            </a:r>
            <a:r>
              <a:rPr lang="en-US" dirty="0" err="1"/>
              <a:t>ứng</a:t>
            </a:r>
            <a:r>
              <a:rPr lang="en-US" dirty="0"/>
              <a:t> </a:t>
            </a:r>
            <a:r>
              <a:rPr lang="en-US" dirty="0" err="1"/>
              <a:t>dụng</a:t>
            </a:r>
            <a:r>
              <a:rPr lang="en-US" dirty="0"/>
              <a:t>. </a:t>
            </a:r>
            <a:r>
              <a:rPr lang="en-US" dirty="0" err="1"/>
              <a:t>Là</a:t>
            </a:r>
            <a:r>
              <a:rPr lang="en-US" dirty="0"/>
              <a:t> </a:t>
            </a:r>
            <a:r>
              <a:rPr lang="en-US" dirty="0" err="1"/>
              <a:t>đối</a:t>
            </a:r>
            <a:r>
              <a:rPr lang="en-US" dirty="0"/>
              <a:t> </a:t>
            </a:r>
            <a:r>
              <a:rPr lang="en-US" dirty="0" err="1"/>
              <a:t>tượng</a:t>
            </a:r>
            <a:r>
              <a:rPr lang="en-US" dirty="0"/>
              <a:t> </a:t>
            </a:r>
            <a:r>
              <a:rPr lang="en-US" dirty="0" err="1"/>
              <a:t>phần</a:t>
            </a:r>
            <a:r>
              <a:rPr lang="en-US" dirty="0"/>
              <a:t> </a:t>
            </a:r>
            <a:r>
              <a:rPr lang="en-US" dirty="0" err="1"/>
              <a:t>mềm</a:t>
            </a:r>
            <a:r>
              <a:rPr lang="en-US" dirty="0"/>
              <a:t> </a:t>
            </a:r>
            <a:r>
              <a:rPr lang="en-US" dirty="0" err="1"/>
              <a:t>chứa</a:t>
            </a:r>
            <a:r>
              <a:rPr lang="en-US" dirty="0"/>
              <a:t> </a:t>
            </a:r>
            <a:r>
              <a:rPr lang="en-US" dirty="0" err="1"/>
              <a:t>các</a:t>
            </a:r>
            <a:r>
              <a:rPr lang="en-US" dirty="0"/>
              <a:t> chi </a:t>
            </a:r>
            <a:r>
              <a:rPr lang="en-US" dirty="0" err="1"/>
              <a:t>tiết</a:t>
            </a:r>
            <a:r>
              <a:rPr lang="en-US" dirty="0"/>
              <a:t> </a:t>
            </a:r>
            <a:r>
              <a:rPr lang="en-US" dirty="0" err="1"/>
              <a:t>của</a:t>
            </a:r>
            <a:r>
              <a:rPr lang="en-US" dirty="0"/>
              <a:t> logic </a:t>
            </a:r>
            <a:r>
              <a:rPr lang="en-US" dirty="0" err="1"/>
              <a:t>ứng</a:t>
            </a:r>
            <a:r>
              <a:rPr lang="en-US" dirty="0"/>
              <a:t> </a:t>
            </a:r>
            <a:r>
              <a:rPr lang="en-US" dirty="0" err="1"/>
              <a:t>dụng</a:t>
            </a:r>
            <a:r>
              <a:rPr lang="en-US" dirty="0"/>
              <a:t>. </a:t>
            </a:r>
            <a:r>
              <a:rPr lang="en-US" dirty="0" err="1"/>
              <a:t>Nó</a:t>
            </a:r>
            <a:r>
              <a:rPr lang="en-US" dirty="0"/>
              <a:t> </a:t>
            </a:r>
            <a:r>
              <a:rPr lang="en-US" dirty="0" err="1"/>
              <a:t>cần</a:t>
            </a:r>
            <a:r>
              <a:rPr lang="en-US" dirty="0"/>
              <a:t> </a:t>
            </a:r>
            <a:r>
              <a:rPr lang="en-US" dirty="0" err="1"/>
              <a:t>thiết</a:t>
            </a:r>
            <a:r>
              <a:rPr lang="en-US" dirty="0"/>
              <a:t> </a:t>
            </a:r>
            <a:r>
              <a:rPr lang="en-US" dirty="0" err="1"/>
              <a:t>khi</a:t>
            </a:r>
            <a:r>
              <a:rPr lang="en-US" dirty="0"/>
              <a:t> </a:t>
            </a:r>
            <a:r>
              <a:rPr lang="en-US" dirty="0" err="1"/>
              <a:t>muốn</a:t>
            </a:r>
            <a:r>
              <a:rPr lang="en-US" dirty="0"/>
              <a:t> </a:t>
            </a:r>
            <a:r>
              <a:rPr lang="en-US" dirty="0" err="1"/>
              <a:t>tách</a:t>
            </a:r>
            <a:r>
              <a:rPr lang="en-US" dirty="0"/>
              <a:t> </a:t>
            </a:r>
            <a:r>
              <a:rPr lang="en-US" dirty="0" err="1"/>
              <a:t>riêng</a:t>
            </a:r>
            <a:r>
              <a:rPr lang="en-US" dirty="0"/>
              <a:t> logic </a:t>
            </a:r>
            <a:r>
              <a:rPr lang="en-US" dirty="0" err="1"/>
              <a:t>ứng</a:t>
            </a:r>
            <a:r>
              <a:rPr lang="en-US" dirty="0"/>
              <a:t> </a:t>
            </a:r>
            <a:r>
              <a:rPr lang="en-US" dirty="0" err="1"/>
              <a:t>dụng</a:t>
            </a:r>
            <a:r>
              <a:rPr lang="en-US" dirty="0"/>
              <a:t> </a:t>
            </a:r>
            <a:r>
              <a:rPr lang="en-US" dirty="0" err="1"/>
              <a:t>khỏi</a:t>
            </a:r>
            <a:r>
              <a:rPr lang="en-US" dirty="0"/>
              <a:t> </a:t>
            </a:r>
            <a:r>
              <a:rPr lang="en-US" dirty="0" err="1"/>
              <a:t>dữ</a:t>
            </a:r>
            <a:r>
              <a:rPr lang="en-US" dirty="0"/>
              <a:t> </a:t>
            </a:r>
            <a:r>
              <a:rPr lang="en-US" dirty="0" err="1"/>
              <a:t>liệu</a:t>
            </a:r>
            <a:r>
              <a:rPr lang="en-US" dirty="0"/>
              <a:t> </a:t>
            </a:r>
            <a:r>
              <a:rPr lang="en-US" dirty="0" err="1"/>
              <a:t>đang</a:t>
            </a:r>
            <a:r>
              <a:rPr lang="en-US" dirty="0"/>
              <a:t> </a:t>
            </a:r>
            <a:r>
              <a:rPr lang="en-US" dirty="0" err="1"/>
              <a:t>được</a:t>
            </a:r>
            <a:r>
              <a:rPr lang="en-US" dirty="0"/>
              <a:t> </a:t>
            </a:r>
            <a:r>
              <a:rPr lang="en-US" dirty="0" err="1"/>
              <a:t>xử</a:t>
            </a:r>
            <a:r>
              <a:rPr lang="en-US" dirty="0"/>
              <a:t> </a:t>
            </a:r>
            <a:r>
              <a:rPr lang="en-US" dirty="0" err="1"/>
              <a:t>lý</a:t>
            </a:r>
            <a:r>
              <a:rPr lang="en-US" dirty="0"/>
              <a:t>, </a:t>
            </a:r>
            <a:r>
              <a:rPr lang="en-US" dirty="0" err="1"/>
              <a:t>vì</a:t>
            </a:r>
            <a:r>
              <a:rPr lang="en-US" dirty="0"/>
              <a:t> logic </a:t>
            </a:r>
            <a:r>
              <a:rPr lang="en-US" dirty="0" err="1"/>
              <a:t>này</a:t>
            </a:r>
            <a:r>
              <a:rPr lang="en-US" dirty="0"/>
              <a:t> </a:t>
            </a:r>
            <a:r>
              <a:rPr lang="en-US" dirty="0" err="1"/>
              <a:t>có</a:t>
            </a:r>
            <a:r>
              <a:rPr lang="en-US" dirty="0"/>
              <a:t> </a:t>
            </a:r>
            <a:r>
              <a:rPr lang="en-US" dirty="0" err="1"/>
              <a:t>khả</a:t>
            </a:r>
            <a:r>
              <a:rPr lang="en-US" dirty="0"/>
              <a:t> </a:t>
            </a:r>
            <a:r>
              <a:rPr lang="en-US" dirty="0" err="1"/>
              <a:t>năng</a:t>
            </a:r>
            <a:r>
              <a:rPr lang="en-US" dirty="0"/>
              <a:t> </a:t>
            </a:r>
            <a:r>
              <a:rPr lang="en-US" dirty="0" err="1"/>
              <a:t>thay</a:t>
            </a:r>
            <a:r>
              <a:rPr lang="en-US" dirty="0"/>
              <a:t> </a:t>
            </a:r>
            <a:r>
              <a:rPr lang="en-US" dirty="0" err="1"/>
              <a:t>đổi</a:t>
            </a:r>
            <a:r>
              <a:rPr lang="en-US" dirty="0"/>
              <a:t> </a:t>
            </a:r>
            <a:r>
              <a:rPr lang="en-US" dirty="0" err="1"/>
              <a:t>độc</a:t>
            </a:r>
            <a:r>
              <a:rPr lang="en-US" dirty="0"/>
              <a:t> </a:t>
            </a:r>
            <a:r>
              <a:rPr lang="en-US" dirty="0" err="1"/>
              <a:t>lập</a:t>
            </a:r>
            <a:r>
              <a:rPr lang="en-US" dirty="0"/>
              <a:t> </a:t>
            </a:r>
            <a:r>
              <a:rPr lang="en-US" dirty="0" err="1"/>
              <a:t>với</a:t>
            </a:r>
            <a:r>
              <a:rPr lang="en-US" dirty="0"/>
              <a:t> </a:t>
            </a:r>
            <a:r>
              <a:rPr lang="en-US" dirty="0" err="1"/>
              <a:t>dữ</a:t>
            </a:r>
            <a:r>
              <a:rPr lang="en-US" dirty="0"/>
              <a:t> </a:t>
            </a:r>
            <a:r>
              <a:rPr lang="en-US" dirty="0" err="1"/>
              <a:t>liệu</a:t>
            </a:r>
            <a:r>
              <a:rPr lang="en-US" dirty="0"/>
              <a:t>.</a:t>
            </a:r>
          </a:p>
          <a:p>
            <a:r>
              <a:rPr lang="en-US" dirty="0" err="1"/>
              <a:t>Đối</a:t>
            </a:r>
            <a:r>
              <a:rPr lang="en-US" dirty="0"/>
              <a:t> </a:t>
            </a:r>
            <a:r>
              <a:rPr lang="en-US" dirty="0" err="1"/>
              <a:t>với</a:t>
            </a:r>
            <a:r>
              <a:rPr lang="en-US" dirty="0"/>
              <a:t> </a:t>
            </a:r>
            <a:r>
              <a:rPr lang="en-US" dirty="0" err="1"/>
              <a:t>các</a:t>
            </a:r>
            <a:r>
              <a:rPr lang="en-US" dirty="0"/>
              <a:t> </a:t>
            </a:r>
            <a:r>
              <a:rPr lang="en-US" dirty="0" err="1"/>
              <a:t>hệ</a:t>
            </a:r>
            <a:r>
              <a:rPr lang="en-US" dirty="0"/>
              <a:t> </a:t>
            </a:r>
            <a:r>
              <a:rPr lang="en-US" dirty="0" err="1"/>
              <a:t>thống</a:t>
            </a:r>
            <a:r>
              <a:rPr lang="en-US" dirty="0"/>
              <a:t> </a:t>
            </a:r>
            <a:r>
              <a:rPr lang="en-US" dirty="0" err="1"/>
              <a:t>thông</a:t>
            </a:r>
            <a:r>
              <a:rPr lang="en-US" dirty="0"/>
              <a:t> tin, </a:t>
            </a:r>
            <a:r>
              <a:rPr lang="en-US" dirty="0" err="1"/>
              <a:t>các</a:t>
            </a:r>
            <a:r>
              <a:rPr lang="en-US" dirty="0"/>
              <a:t> </a:t>
            </a:r>
            <a:r>
              <a:rPr lang="en-US" dirty="0" err="1"/>
              <a:t>đối</a:t>
            </a:r>
            <a:r>
              <a:rPr lang="en-US" dirty="0"/>
              <a:t> </a:t>
            </a:r>
            <a:r>
              <a:rPr lang="en-US" dirty="0" err="1"/>
              <a:t>tượng</a:t>
            </a:r>
            <a:r>
              <a:rPr lang="en-US" dirty="0"/>
              <a:t> logic </a:t>
            </a:r>
            <a:r>
              <a:rPr lang="en-US" dirty="0" err="1"/>
              <a:t>ứng</a:t>
            </a:r>
            <a:r>
              <a:rPr lang="en-US" dirty="0"/>
              <a:t> </a:t>
            </a:r>
            <a:r>
              <a:rPr lang="en-US" dirty="0" err="1"/>
              <a:t>dụng</a:t>
            </a:r>
            <a:r>
              <a:rPr lang="en-US" dirty="0"/>
              <a:t> </a:t>
            </a:r>
            <a:r>
              <a:rPr lang="en-US" dirty="0" err="1"/>
              <a:t>thường</a:t>
            </a:r>
            <a:r>
              <a:rPr lang="en-US" dirty="0"/>
              <a:t> </a:t>
            </a:r>
            <a:r>
              <a:rPr lang="en-US" dirty="0" err="1"/>
              <a:t>là</a:t>
            </a:r>
            <a:r>
              <a:rPr lang="en-US" dirty="0"/>
              <a:t> </a:t>
            </a:r>
            <a:r>
              <a:rPr lang="en-US" dirty="0" err="1"/>
              <a:t>các</a:t>
            </a:r>
            <a:r>
              <a:rPr lang="en-US" dirty="0"/>
              <a:t> </a:t>
            </a:r>
            <a:r>
              <a:rPr lang="en-US" dirty="0" err="1"/>
              <a:t>đối</a:t>
            </a:r>
            <a:r>
              <a:rPr lang="en-US" dirty="0"/>
              <a:t> </a:t>
            </a:r>
            <a:r>
              <a:rPr lang="en-US" dirty="0" err="1"/>
              <a:t>tượng</a:t>
            </a:r>
            <a:r>
              <a:rPr lang="en-US" dirty="0"/>
              <a:t> logic </a:t>
            </a:r>
            <a:r>
              <a:rPr lang="en-US" dirty="0" err="1"/>
              <a:t>nghiệp</a:t>
            </a:r>
            <a:r>
              <a:rPr lang="en-US" dirty="0"/>
              <a:t> </a:t>
            </a:r>
            <a:r>
              <a:rPr lang="en-US" dirty="0" err="1"/>
              <a:t>vụ</a:t>
            </a:r>
            <a:r>
              <a:rPr lang="en-US" dirty="0"/>
              <a:t> (business logic objects).</a:t>
            </a:r>
          </a:p>
          <a:p>
            <a:r>
              <a:rPr lang="en-US" dirty="0" err="1"/>
              <a:t>Đối</a:t>
            </a:r>
            <a:r>
              <a:rPr lang="en-US" dirty="0"/>
              <a:t> </a:t>
            </a:r>
            <a:r>
              <a:rPr lang="en-US" dirty="0" err="1"/>
              <a:t>với</a:t>
            </a:r>
            <a:r>
              <a:rPr lang="en-US" dirty="0"/>
              <a:t> </a:t>
            </a:r>
            <a:r>
              <a:rPr lang="en-US" dirty="0" err="1"/>
              <a:t>các</a:t>
            </a:r>
            <a:r>
              <a:rPr lang="en-US" dirty="0"/>
              <a:t> </a:t>
            </a:r>
            <a:r>
              <a:rPr lang="en-US" dirty="0" err="1"/>
              <a:t>ứng</a:t>
            </a:r>
            <a:r>
              <a:rPr lang="en-US" dirty="0"/>
              <a:t> </a:t>
            </a:r>
            <a:r>
              <a:rPr lang="en-US" dirty="0" err="1"/>
              <a:t>dụng</a:t>
            </a:r>
            <a:r>
              <a:rPr lang="en-US" dirty="0"/>
              <a:t> </a:t>
            </a:r>
            <a:r>
              <a:rPr lang="en-US" dirty="0" err="1"/>
              <a:t>thời</a:t>
            </a:r>
            <a:r>
              <a:rPr lang="en-US" dirty="0"/>
              <a:t> </a:t>
            </a:r>
            <a:r>
              <a:rPr lang="en-US" dirty="0" err="1"/>
              <a:t>gian</a:t>
            </a:r>
            <a:r>
              <a:rPr lang="en-US" dirty="0"/>
              <a:t> </a:t>
            </a:r>
            <a:r>
              <a:rPr lang="en-US" dirty="0" err="1"/>
              <a:t>thực</a:t>
            </a:r>
            <a:r>
              <a:rPr lang="en-US" dirty="0"/>
              <a:t>, khoa </a:t>
            </a:r>
            <a:r>
              <a:rPr lang="en-US" dirty="0" err="1"/>
              <a:t>học</a:t>
            </a:r>
            <a:r>
              <a:rPr lang="en-US" dirty="0"/>
              <a:t> </a:t>
            </a:r>
            <a:r>
              <a:rPr lang="en-US" dirty="0" err="1"/>
              <a:t>hoặc</a:t>
            </a:r>
            <a:r>
              <a:rPr lang="en-US" dirty="0"/>
              <a:t> </a:t>
            </a:r>
            <a:r>
              <a:rPr lang="en-US" dirty="0" err="1"/>
              <a:t>kỹ</a:t>
            </a:r>
            <a:r>
              <a:rPr lang="en-US" dirty="0"/>
              <a:t> </a:t>
            </a:r>
            <a:r>
              <a:rPr lang="en-US" dirty="0" err="1"/>
              <a:t>thuật</a:t>
            </a:r>
            <a:r>
              <a:rPr lang="en-US" dirty="0"/>
              <a:t>, </a:t>
            </a:r>
            <a:r>
              <a:rPr lang="en-US" dirty="0" err="1"/>
              <a:t>chúng</a:t>
            </a:r>
            <a:r>
              <a:rPr lang="en-US" dirty="0"/>
              <a:t> </a:t>
            </a:r>
            <a:r>
              <a:rPr lang="en-US" dirty="0" err="1"/>
              <a:t>thường</a:t>
            </a:r>
            <a:r>
              <a:rPr lang="en-US" dirty="0"/>
              <a:t> </a:t>
            </a:r>
            <a:r>
              <a:rPr lang="en-US" dirty="0" err="1"/>
              <a:t>là</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thuật</a:t>
            </a:r>
            <a:r>
              <a:rPr lang="en-US" dirty="0"/>
              <a:t> </a:t>
            </a:r>
            <a:r>
              <a:rPr lang="en-US" dirty="0" err="1"/>
              <a:t>toán</a:t>
            </a:r>
            <a:r>
              <a:rPr lang="en-US" dirty="0"/>
              <a:t> (algorithm objects).</a:t>
            </a:r>
          </a:p>
          <a:p>
            <a:r>
              <a:rPr lang="en-US" dirty="0" err="1"/>
              <a:t>Một</a:t>
            </a:r>
            <a:r>
              <a:rPr lang="en-US" dirty="0"/>
              <a:t> </a:t>
            </a:r>
            <a:r>
              <a:rPr lang="en-US" dirty="0" err="1"/>
              <a:t>loại</a:t>
            </a:r>
            <a:r>
              <a:rPr lang="en-US" dirty="0"/>
              <a:t> </a:t>
            </a:r>
            <a:r>
              <a:rPr lang="en-US" dirty="0" err="1"/>
              <a:t>khác</a:t>
            </a:r>
            <a:r>
              <a:rPr lang="en-US" dirty="0"/>
              <a:t> </a:t>
            </a:r>
            <a:r>
              <a:rPr lang="en-US" dirty="0" err="1"/>
              <a:t>là</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dịch</a:t>
            </a:r>
            <a:r>
              <a:rPr lang="en-US" dirty="0"/>
              <a:t> </a:t>
            </a:r>
            <a:r>
              <a:rPr lang="en-US" dirty="0" err="1"/>
              <a:t>vụ</a:t>
            </a:r>
            <a:r>
              <a:rPr lang="en-US" dirty="0"/>
              <a:t> (service objects), </a:t>
            </a:r>
            <a:r>
              <a:rPr lang="en-US" dirty="0" err="1"/>
              <a:t>cung</a:t>
            </a:r>
            <a:r>
              <a:rPr lang="en-US" dirty="0"/>
              <a:t> </a:t>
            </a:r>
            <a:r>
              <a:rPr lang="en-US" dirty="0" err="1"/>
              <a:t>cấp</a:t>
            </a:r>
            <a:r>
              <a:rPr lang="en-US" dirty="0"/>
              <a:t> </a:t>
            </a:r>
            <a:r>
              <a:rPr lang="en-US" dirty="0" err="1"/>
              <a:t>dịch</a:t>
            </a:r>
            <a:r>
              <a:rPr lang="en-US" dirty="0"/>
              <a:t> </a:t>
            </a:r>
            <a:r>
              <a:rPr lang="en-US" dirty="0" err="1"/>
              <a:t>vụ</a:t>
            </a:r>
            <a:r>
              <a:rPr lang="en-US" dirty="0"/>
              <a:t> </a:t>
            </a:r>
            <a:r>
              <a:rPr lang="en-US" dirty="0" err="1"/>
              <a:t>cho</a:t>
            </a:r>
            <a:r>
              <a:rPr lang="en-US" dirty="0"/>
              <a:t> </a:t>
            </a:r>
            <a:r>
              <a:rPr lang="en-US" dirty="0" err="1"/>
              <a:t>các</a:t>
            </a:r>
            <a:r>
              <a:rPr lang="en-US" dirty="0"/>
              <a:t> </a:t>
            </a:r>
            <a:r>
              <a:rPr lang="en-US" dirty="0" err="1"/>
              <a:t>đối</a:t>
            </a:r>
            <a:r>
              <a:rPr lang="en-US" dirty="0"/>
              <a:t> </a:t>
            </a:r>
            <a:r>
              <a:rPr lang="en-US" dirty="0" err="1"/>
              <a:t>tượng</a:t>
            </a:r>
            <a:r>
              <a:rPr lang="en-US" dirty="0"/>
              <a:t> </a:t>
            </a:r>
            <a:r>
              <a:rPr lang="en-US" dirty="0" err="1"/>
              <a:t>khách</a:t>
            </a:r>
            <a:r>
              <a:rPr lang="en-US" dirty="0"/>
              <a:t> (client objects), </a:t>
            </a:r>
            <a:r>
              <a:rPr lang="en-US" dirty="0" err="1"/>
              <a:t>thường</a:t>
            </a:r>
            <a:r>
              <a:rPr lang="en-US" dirty="0"/>
              <a:t> </a:t>
            </a:r>
            <a:r>
              <a:rPr lang="en-US" dirty="0" err="1"/>
              <a:t>xuất</a:t>
            </a:r>
            <a:r>
              <a:rPr lang="en-US" dirty="0"/>
              <a:t> </a:t>
            </a:r>
            <a:r>
              <a:rPr lang="en-US" dirty="0" err="1"/>
              <a:t>hiện</a:t>
            </a:r>
            <a:r>
              <a:rPr lang="en-US" dirty="0"/>
              <a:t> </a:t>
            </a:r>
            <a:r>
              <a:rPr lang="en-US" dirty="0" err="1"/>
              <a:t>trong</a:t>
            </a:r>
            <a:r>
              <a:rPr lang="en-US" dirty="0"/>
              <a:t> </a:t>
            </a:r>
            <a:r>
              <a:rPr lang="en-US" dirty="0" err="1"/>
              <a:t>các</a:t>
            </a:r>
            <a:r>
              <a:rPr lang="en-US" dirty="0"/>
              <a:t> </a:t>
            </a:r>
            <a:r>
              <a:rPr lang="en-US" dirty="0" err="1"/>
              <a:t>kiến</a:t>
            </a:r>
            <a:r>
              <a:rPr lang="en-US" dirty="0"/>
              <a:t> </a:t>
            </a:r>
            <a:r>
              <a:rPr lang="en-US" dirty="0" err="1"/>
              <a:t>trúc</a:t>
            </a:r>
            <a:r>
              <a:rPr lang="en-US" dirty="0"/>
              <a:t> </a:t>
            </a:r>
            <a:r>
              <a:rPr lang="en-US" dirty="0" err="1"/>
              <a:t>và</a:t>
            </a:r>
            <a:r>
              <a:rPr lang="en-US" dirty="0"/>
              <a:t> </a:t>
            </a:r>
            <a:r>
              <a:rPr lang="en-US" dirty="0" err="1"/>
              <a:t>ứng</a:t>
            </a:r>
            <a:r>
              <a:rPr lang="en-US" dirty="0"/>
              <a:t> </a:t>
            </a:r>
            <a:r>
              <a:rPr lang="en-US" dirty="0" err="1"/>
              <a:t>dụng</a:t>
            </a:r>
            <a:r>
              <a:rPr lang="en-US" dirty="0"/>
              <a:t> </a:t>
            </a:r>
            <a:r>
              <a:rPr lang="en-US" dirty="0" err="1"/>
              <a:t>hướng</a:t>
            </a:r>
            <a:r>
              <a:rPr lang="en-US" dirty="0"/>
              <a:t> </a:t>
            </a:r>
            <a:r>
              <a:rPr lang="en-US" dirty="0" err="1"/>
              <a:t>dịch</a:t>
            </a:r>
            <a:r>
              <a:rPr lang="en-US" dirty="0"/>
              <a:t> </a:t>
            </a:r>
            <a:r>
              <a:rPr lang="en-US" dirty="0" err="1"/>
              <a:t>vụ</a:t>
            </a:r>
            <a:r>
              <a:rPr lang="en-US" dirty="0"/>
              <a:t> (service-oriented architectures/applications).</a:t>
            </a:r>
          </a:p>
          <a:p>
            <a:endParaRPr lang="en-US" dirty="0"/>
          </a:p>
          <a:p>
            <a:endParaRPr lang="en-US" dirty="0"/>
          </a:p>
        </p:txBody>
      </p:sp>
      <p:sp>
        <p:nvSpPr>
          <p:cNvPr id="4" name="Slide Number Placeholder 3"/>
          <p:cNvSpPr>
            <a:spLocks noGrp="1"/>
          </p:cNvSpPr>
          <p:nvPr>
            <p:ph type="sldNum" sz="quarter" idx="5"/>
          </p:nvPr>
        </p:nvSpPr>
        <p:spPr/>
        <p:txBody>
          <a:bodyPr/>
          <a:lstStyle/>
          <a:p>
            <a:fld id="{CDAE0073-C388-4BBC-94F1-A3FD064D5EAA}" type="slidenum">
              <a:rPr lang="en-GB" smtClean="0"/>
              <a:t>6</a:t>
            </a:fld>
            <a:endParaRPr lang="en-GB"/>
          </a:p>
        </p:txBody>
      </p:sp>
    </p:spTree>
    <p:extLst>
      <p:ext uri="{BB962C8B-B14F-4D97-AF65-F5344CB8AC3E}">
        <p14:creationId xmlns:p14="http://schemas.microsoft.com/office/powerpoint/2010/main" val="4069764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 External classes </a:t>
            </a:r>
            <a:r>
              <a:rPr lang="en-US" dirty="0" err="1"/>
              <a:t>là</a:t>
            </a:r>
            <a:r>
              <a:rPr lang="en-US" dirty="0"/>
              <a:t> </a:t>
            </a:r>
            <a:r>
              <a:rPr lang="en-US" dirty="0" err="1"/>
              <a:t>những</a:t>
            </a:r>
            <a:r>
              <a:rPr lang="en-US" dirty="0"/>
              <a:t> </a:t>
            </a:r>
            <a:r>
              <a:rPr lang="en-US" dirty="0" err="1"/>
              <a:t>lớp</a:t>
            </a:r>
            <a:r>
              <a:rPr lang="en-US" dirty="0"/>
              <a:t> </a:t>
            </a:r>
            <a:r>
              <a:rPr lang="en-US" dirty="0" err="1"/>
              <a:t>dùng</a:t>
            </a:r>
            <a:r>
              <a:rPr lang="en-US" dirty="0"/>
              <a:t> </a:t>
            </a:r>
            <a:r>
              <a:rPr lang="en-US" dirty="0" err="1"/>
              <a:t>để</a:t>
            </a:r>
            <a:r>
              <a:rPr lang="en-US" dirty="0"/>
              <a:t> </a:t>
            </a:r>
            <a:r>
              <a:rPr lang="en-US" b="1" dirty="0" err="1"/>
              <a:t>kết</a:t>
            </a:r>
            <a:r>
              <a:rPr lang="en-US" b="1" dirty="0"/>
              <a:t> </a:t>
            </a:r>
            <a:r>
              <a:rPr lang="en-US" b="1" dirty="0" err="1"/>
              <a:t>nối</a:t>
            </a:r>
            <a:r>
              <a:rPr lang="en-US" b="1" dirty="0"/>
              <a:t> </a:t>
            </a:r>
            <a:r>
              <a:rPr lang="en-US" b="1" dirty="0" err="1"/>
              <a:t>phần</a:t>
            </a:r>
            <a:r>
              <a:rPr lang="en-US" b="1" dirty="0"/>
              <a:t> </a:t>
            </a:r>
            <a:r>
              <a:rPr lang="en-US" b="1" dirty="0" err="1"/>
              <a:t>mềm</a:t>
            </a:r>
            <a:r>
              <a:rPr lang="en-US" b="1" dirty="0"/>
              <a:t> </a:t>
            </a:r>
            <a:r>
              <a:rPr lang="en-US" b="1" dirty="0" err="1"/>
              <a:t>với</a:t>
            </a:r>
            <a:r>
              <a:rPr lang="en-US" b="1" dirty="0"/>
              <a:t> </a:t>
            </a:r>
            <a:r>
              <a:rPr lang="en-US" b="1" dirty="0" err="1"/>
              <a:t>thế</a:t>
            </a:r>
            <a:r>
              <a:rPr lang="en-US" b="1" dirty="0"/>
              <a:t> </a:t>
            </a:r>
            <a:r>
              <a:rPr lang="en-US" b="1" dirty="0" err="1"/>
              <a:t>giới</a:t>
            </a:r>
            <a:r>
              <a:rPr lang="en-US" b="1" dirty="0"/>
              <a:t> </a:t>
            </a:r>
            <a:r>
              <a:rPr lang="en-US" b="1" dirty="0" err="1"/>
              <a:t>bên</a:t>
            </a:r>
            <a:r>
              <a:rPr lang="en-US" b="1" dirty="0"/>
              <a:t> </a:t>
            </a:r>
            <a:r>
              <a:rPr lang="en-US" b="1" dirty="0" err="1"/>
              <a:t>ngoài</a:t>
            </a:r>
            <a:r>
              <a:rPr lang="en-US" dirty="0"/>
              <a:t> </a:t>
            </a:r>
            <a:r>
              <a:rPr lang="en-US" dirty="0" err="1"/>
              <a:t>như</a:t>
            </a:r>
            <a:r>
              <a:rPr lang="en-US" dirty="0"/>
              <a:t>:</a:t>
            </a:r>
          </a:p>
          <a:p>
            <a:r>
              <a:rPr lang="en-US" dirty="0"/>
              <a:t>- </a:t>
            </a:r>
            <a:r>
              <a:rPr lang="en-US" dirty="0" err="1"/>
              <a:t>Người</a:t>
            </a:r>
            <a:r>
              <a:rPr lang="en-US" dirty="0"/>
              <a:t> </a:t>
            </a:r>
            <a:r>
              <a:rPr lang="en-US" dirty="0" err="1"/>
              <a:t>dùng</a:t>
            </a:r>
            <a:r>
              <a:rPr lang="en-US" dirty="0"/>
              <a:t> </a:t>
            </a:r>
          </a:p>
          <a:p>
            <a:r>
              <a:rPr lang="en-US" dirty="0"/>
              <a:t>- </a:t>
            </a:r>
            <a:r>
              <a:rPr lang="en-US" dirty="0" err="1"/>
              <a:t>Thiết</a:t>
            </a:r>
            <a:r>
              <a:rPr lang="en-US" dirty="0"/>
              <a:t> </a:t>
            </a:r>
            <a:r>
              <a:rPr lang="en-US" dirty="0" err="1"/>
              <a:t>bị</a:t>
            </a:r>
            <a:r>
              <a:rPr lang="en-US" dirty="0"/>
              <a:t> (keyboard, </a:t>
            </a:r>
            <a:r>
              <a:rPr lang="en-US" dirty="0" err="1"/>
              <a:t>màn</a:t>
            </a:r>
            <a:r>
              <a:rPr lang="en-US" dirty="0"/>
              <a:t> </a:t>
            </a:r>
            <a:r>
              <a:rPr lang="en-US" dirty="0" err="1"/>
              <a:t>hình</a:t>
            </a:r>
            <a:r>
              <a:rPr lang="en-US" dirty="0"/>
              <a:t>, </a:t>
            </a:r>
            <a:r>
              <a:rPr lang="en-US" dirty="0" err="1"/>
              <a:t>máy</a:t>
            </a:r>
            <a:r>
              <a:rPr lang="en-US" dirty="0"/>
              <a:t> in…) </a:t>
            </a:r>
          </a:p>
          <a:p>
            <a:r>
              <a:rPr lang="en-US" dirty="0"/>
              <a:t>- </a:t>
            </a:r>
            <a:r>
              <a:rPr lang="en-US" dirty="0" err="1"/>
              <a:t>Hệ</a:t>
            </a:r>
            <a:r>
              <a:rPr lang="en-US" dirty="0"/>
              <a:t> </a:t>
            </a:r>
            <a:r>
              <a:rPr lang="en-US" dirty="0" err="1"/>
              <a:t>thống</a:t>
            </a:r>
            <a:r>
              <a:rPr lang="en-US" dirty="0"/>
              <a:t> </a:t>
            </a:r>
            <a:r>
              <a:rPr lang="en-US" dirty="0" err="1"/>
              <a:t>khác</a:t>
            </a:r>
            <a:r>
              <a:rPr lang="en-US" dirty="0"/>
              <a:t> </a:t>
            </a:r>
          </a:p>
          <a:p>
            <a:r>
              <a:rPr lang="en-US" dirty="0" err="1"/>
              <a:t>Chúng</a:t>
            </a:r>
            <a:r>
              <a:rPr lang="en-US" dirty="0"/>
              <a:t> </a:t>
            </a:r>
            <a:r>
              <a:rPr lang="en-US" dirty="0" err="1"/>
              <a:t>không</a:t>
            </a:r>
            <a:r>
              <a:rPr lang="en-US" dirty="0"/>
              <a:t> </a:t>
            </a:r>
            <a:r>
              <a:rPr lang="en-US" dirty="0" err="1"/>
              <a:t>xử</a:t>
            </a:r>
            <a:r>
              <a:rPr lang="en-US" dirty="0"/>
              <a:t> </a:t>
            </a:r>
            <a:r>
              <a:rPr lang="en-US" dirty="0" err="1"/>
              <a:t>lý</a:t>
            </a:r>
            <a:r>
              <a:rPr lang="en-US" dirty="0"/>
              <a:t> </a:t>
            </a:r>
            <a:r>
              <a:rPr lang="en-US" dirty="0" err="1"/>
              <a:t>nghiệp</a:t>
            </a:r>
            <a:r>
              <a:rPr lang="en-US" dirty="0"/>
              <a:t> </a:t>
            </a:r>
            <a:r>
              <a:rPr lang="en-US" dirty="0" err="1"/>
              <a:t>vụ</a:t>
            </a:r>
            <a:r>
              <a:rPr lang="en-US" dirty="0"/>
              <a:t> </a:t>
            </a:r>
            <a:r>
              <a:rPr lang="en-US" dirty="0" err="1"/>
              <a:t>chính</a:t>
            </a:r>
            <a:r>
              <a:rPr lang="en-US" dirty="0"/>
              <a:t>, </a:t>
            </a:r>
            <a:r>
              <a:rPr lang="en-US" dirty="0" err="1"/>
              <a:t>mà</a:t>
            </a:r>
            <a:r>
              <a:rPr lang="en-US" dirty="0"/>
              <a:t> </a:t>
            </a:r>
            <a:r>
              <a:rPr lang="en-US" dirty="0" err="1"/>
              <a:t>chỉ</a:t>
            </a:r>
            <a:r>
              <a:rPr lang="en-US" dirty="0"/>
              <a:t> </a:t>
            </a:r>
            <a:r>
              <a:rPr lang="en-US" dirty="0" err="1"/>
              <a:t>làm</a:t>
            </a:r>
            <a:r>
              <a:rPr lang="en-US" dirty="0"/>
              <a:t> </a:t>
            </a:r>
            <a:r>
              <a:rPr lang="en-US" dirty="0" err="1"/>
              <a:t>nhiệm</a:t>
            </a:r>
            <a:r>
              <a:rPr lang="en-US" dirty="0"/>
              <a:t> </a:t>
            </a:r>
            <a:r>
              <a:rPr lang="en-US" dirty="0" err="1"/>
              <a:t>vụ</a:t>
            </a:r>
            <a:r>
              <a:rPr lang="en-US" dirty="0"/>
              <a:t> “</a:t>
            </a:r>
            <a:r>
              <a:rPr lang="en-US" dirty="0" err="1"/>
              <a:t>trung</a:t>
            </a:r>
            <a:r>
              <a:rPr lang="en-US" dirty="0"/>
              <a:t> </a:t>
            </a:r>
            <a:r>
              <a:rPr lang="en-US" dirty="0" err="1"/>
              <a:t>gian</a:t>
            </a:r>
            <a:r>
              <a:rPr lang="en-US" dirty="0"/>
              <a:t> </a:t>
            </a:r>
            <a:r>
              <a:rPr lang="en-US" dirty="0" err="1"/>
              <a:t>giao</a:t>
            </a:r>
            <a:r>
              <a:rPr lang="en-US" dirty="0"/>
              <a:t> </a:t>
            </a:r>
            <a:r>
              <a:rPr lang="en-US" dirty="0" err="1"/>
              <a:t>tiếp</a:t>
            </a:r>
            <a:r>
              <a:rPr lang="en-US" dirty="0"/>
              <a:t>”.</a:t>
            </a:r>
          </a:p>
          <a:p>
            <a:endParaRPr lang="en-US" dirty="0"/>
          </a:p>
          <a:p>
            <a:r>
              <a:rPr lang="en-US" b="1" dirty="0"/>
              <a:t>2. Software boundary classes </a:t>
            </a:r>
            <a:r>
              <a:rPr lang="en-US" dirty="0" err="1"/>
              <a:t>là</a:t>
            </a:r>
            <a:r>
              <a:rPr lang="en-US" dirty="0"/>
              <a:t> </a:t>
            </a:r>
            <a:r>
              <a:rPr lang="en-US" dirty="0" err="1"/>
              <a:t>các</a:t>
            </a:r>
            <a:r>
              <a:rPr lang="en-US" dirty="0"/>
              <a:t> </a:t>
            </a:r>
            <a:r>
              <a:rPr lang="en-US" dirty="0" err="1"/>
              <a:t>lớp</a:t>
            </a:r>
            <a:r>
              <a:rPr lang="en-US" dirty="0"/>
              <a:t> </a:t>
            </a:r>
            <a:r>
              <a:rPr lang="en-US" dirty="0" err="1"/>
              <a:t>nằm</a:t>
            </a:r>
            <a:r>
              <a:rPr lang="en-US" dirty="0"/>
              <a:t> ở “</a:t>
            </a:r>
            <a:r>
              <a:rPr lang="en-US" dirty="0" err="1"/>
              <a:t>ranh</a:t>
            </a:r>
            <a:r>
              <a:rPr lang="en-US" dirty="0"/>
              <a:t> </a:t>
            </a:r>
            <a:r>
              <a:rPr lang="en-US" dirty="0" err="1"/>
              <a:t>giới</a:t>
            </a:r>
            <a:r>
              <a:rPr lang="en-US" dirty="0"/>
              <a:t>” </a:t>
            </a:r>
            <a:r>
              <a:rPr lang="en-US" dirty="0" err="1"/>
              <a:t>giữa</a:t>
            </a:r>
            <a:r>
              <a:rPr lang="en-US" dirty="0"/>
              <a:t> </a:t>
            </a:r>
            <a:r>
              <a:rPr lang="en-US" dirty="0" err="1"/>
              <a:t>phần</a:t>
            </a:r>
            <a:r>
              <a:rPr lang="en-US" dirty="0"/>
              <a:t> </a:t>
            </a:r>
            <a:r>
              <a:rPr lang="en-US" dirty="0" err="1"/>
              <a:t>mềm</a:t>
            </a:r>
            <a:r>
              <a:rPr lang="en-US" dirty="0"/>
              <a:t> </a:t>
            </a:r>
            <a:r>
              <a:rPr lang="en-US" dirty="0" err="1"/>
              <a:t>và</a:t>
            </a:r>
            <a:r>
              <a:rPr lang="en-US" dirty="0"/>
              <a:t> </a:t>
            </a:r>
            <a:r>
              <a:rPr lang="en-US" dirty="0" err="1"/>
              <a:t>bên</a:t>
            </a:r>
            <a:r>
              <a:rPr lang="en-US" dirty="0"/>
              <a:t> </a:t>
            </a:r>
            <a:r>
              <a:rPr lang="en-US" dirty="0" err="1"/>
              <a:t>ngoài</a:t>
            </a:r>
            <a:r>
              <a:rPr lang="en-US" dirty="0"/>
              <a:t>:</a:t>
            </a:r>
          </a:p>
          <a:p>
            <a:r>
              <a:rPr lang="en-US" b="1" dirty="0"/>
              <a:t>User interaction class</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người</a:t>
            </a:r>
            <a:r>
              <a:rPr lang="en-US" dirty="0"/>
              <a:t> </a:t>
            </a:r>
            <a:r>
              <a:rPr lang="en-US" dirty="0" err="1"/>
              <a:t>dùng</a:t>
            </a:r>
            <a:br>
              <a:rPr lang="en-US" dirty="0"/>
            </a:br>
            <a:r>
              <a:rPr lang="en-US" dirty="0"/>
              <a:t>→ </a:t>
            </a:r>
            <a:r>
              <a:rPr lang="en-US" dirty="0" err="1"/>
              <a:t>nhận</a:t>
            </a:r>
            <a:r>
              <a:rPr lang="en-US" dirty="0"/>
              <a:t> input </a:t>
            </a:r>
            <a:r>
              <a:rPr lang="en-US" dirty="0" err="1"/>
              <a:t>từ</a:t>
            </a:r>
            <a:r>
              <a:rPr lang="en-US" dirty="0"/>
              <a:t> user, </a:t>
            </a:r>
            <a:r>
              <a:rPr lang="en-US" dirty="0" err="1"/>
              <a:t>hiển</a:t>
            </a:r>
            <a:r>
              <a:rPr lang="en-US" dirty="0"/>
              <a:t> </a:t>
            </a:r>
            <a:r>
              <a:rPr lang="en-US" dirty="0" err="1"/>
              <a:t>thị</a:t>
            </a:r>
            <a:r>
              <a:rPr lang="en-US" dirty="0"/>
              <a:t> output (GUI, CLI) </a:t>
            </a:r>
          </a:p>
          <a:p>
            <a:r>
              <a:rPr lang="en-US" b="1" dirty="0"/>
              <a:t>Proxy class</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hệ</a:t>
            </a:r>
            <a:r>
              <a:rPr lang="en-US" dirty="0"/>
              <a:t> </a:t>
            </a:r>
            <a:r>
              <a:rPr lang="en-US" dirty="0" err="1"/>
              <a:t>thống</a:t>
            </a:r>
            <a:r>
              <a:rPr lang="en-US" dirty="0"/>
              <a:t> </a:t>
            </a:r>
            <a:r>
              <a:rPr lang="en-US" dirty="0" err="1"/>
              <a:t>khác</a:t>
            </a:r>
            <a:br>
              <a:rPr lang="en-US" dirty="0"/>
            </a:br>
            <a:r>
              <a:rPr lang="en-US" dirty="0"/>
              <a:t>→ </a:t>
            </a:r>
            <a:r>
              <a:rPr lang="en-US" dirty="0" err="1"/>
              <a:t>như</a:t>
            </a:r>
            <a:r>
              <a:rPr lang="en-US" dirty="0"/>
              <a:t> “</a:t>
            </a:r>
            <a:r>
              <a:rPr lang="en-US" dirty="0" err="1"/>
              <a:t>cầu</a:t>
            </a:r>
            <a:r>
              <a:rPr lang="en-US" dirty="0"/>
              <a:t> </a:t>
            </a:r>
            <a:r>
              <a:rPr lang="en-US" dirty="0" err="1"/>
              <a:t>nối</a:t>
            </a:r>
            <a:r>
              <a:rPr lang="en-US" dirty="0"/>
              <a:t>” </a:t>
            </a:r>
            <a:r>
              <a:rPr lang="en-US" dirty="0" err="1"/>
              <a:t>giữa</a:t>
            </a:r>
            <a:r>
              <a:rPr lang="en-US" dirty="0"/>
              <a:t> 2 </a:t>
            </a:r>
            <a:r>
              <a:rPr lang="en-US" dirty="0" err="1"/>
              <a:t>hệ</a:t>
            </a:r>
            <a:r>
              <a:rPr lang="en-US" dirty="0"/>
              <a:t> </a:t>
            </a:r>
            <a:r>
              <a:rPr lang="en-US" dirty="0" err="1"/>
              <a:t>thống</a:t>
            </a:r>
            <a:r>
              <a:rPr lang="en-US" dirty="0"/>
              <a:t> </a:t>
            </a:r>
          </a:p>
          <a:p>
            <a:r>
              <a:rPr lang="en-US" b="1" dirty="0"/>
              <a:t>Device I/O class</a:t>
            </a:r>
            <a:r>
              <a:rPr lang="en-US" dirty="0"/>
              <a:t>: </a:t>
            </a:r>
            <a:r>
              <a:rPr lang="en-US" dirty="0" err="1"/>
              <a:t>giao</a:t>
            </a:r>
            <a:r>
              <a:rPr lang="en-US" dirty="0"/>
              <a:t> </a:t>
            </a:r>
            <a:r>
              <a:rPr lang="en-US" dirty="0" err="1"/>
              <a:t>tiếp</a:t>
            </a:r>
            <a:r>
              <a:rPr lang="en-US" dirty="0"/>
              <a:t> </a:t>
            </a:r>
            <a:r>
              <a:rPr lang="en-US" dirty="0" err="1"/>
              <a:t>với</a:t>
            </a:r>
            <a:r>
              <a:rPr lang="en-US" dirty="0"/>
              <a:t> </a:t>
            </a:r>
            <a:r>
              <a:rPr lang="en-US" dirty="0" err="1"/>
              <a:t>thiết</a:t>
            </a:r>
            <a:r>
              <a:rPr lang="en-US" dirty="0"/>
              <a:t> </a:t>
            </a:r>
            <a:r>
              <a:rPr lang="en-US" dirty="0" err="1"/>
              <a:t>bị</a:t>
            </a:r>
            <a:br>
              <a:rPr lang="en-US" dirty="0"/>
            </a:br>
            <a:r>
              <a:rPr lang="en-US" dirty="0"/>
              <a:t>→ </a:t>
            </a:r>
            <a:r>
              <a:rPr lang="en-US" dirty="0" err="1"/>
              <a:t>nhập</a:t>
            </a:r>
            <a:r>
              <a:rPr lang="en-US" dirty="0"/>
              <a:t>/</a:t>
            </a:r>
            <a:r>
              <a:rPr lang="en-US" dirty="0" err="1"/>
              <a:t>xuất</a:t>
            </a:r>
            <a:r>
              <a:rPr lang="en-US" dirty="0"/>
              <a:t> </a:t>
            </a:r>
            <a:r>
              <a:rPr lang="en-US" dirty="0" err="1"/>
              <a:t>dữ</a:t>
            </a:r>
            <a:r>
              <a:rPr lang="en-US" dirty="0"/>
              <a:t> </a:t>
            </a:r>
            <a:r>
              <a:rPr lang="en-US" dirty="0" err="1"/>
              <a:t>liệu</a:t>
            </a:r>
            <a:r>
              <a:rPr lang="en-US" dirty="0"/>
              <a:t> </a:t>
            </a:r>
            <a:r>
              <a:rPr lang="en-US" dirty="0" err="1"/>
              <a:t>với</a:t>
            </a:r>
            <a:r>
              <a:rPr lang="en-US" dirty="0"/>
              <a:t> </a:t>
            </a:r>
            <a:r>
              <a:rPr lang="en-US" dirty="0" err="1"/>
              <a:t>phần</a:t>
            </a:r>
            <a:r>
              <a:rPr lang="en-US" dirty="0"/>
              <a:t> </a:t>
            </a:r>
            <a:r>
              <a:rPr lang="en-US" dirty="0" err="1"/>
              <a:t>cứng</a:t>
            </a:r>
            <a:endParaRPr lang="en-US" dirty="0"/>
          </a:p>
          <a:p>
            <a:endParaRPr lang="en-US" dirty="0"/>
          </a:p>
          <a:p>
            <a:r>
              <a:rPr lang="en-US" b="1" dirty="0"/>
              <a:t>3. </a:t>
            </a:r>
            <a:r>
              <a:rPr lang="en-US" b="1" dirty="0" err="1"/>
              <a:t>Ví</a:t>
            </a:r>
            <a:r>
              <a:rPr lang="en-US" b="1" dirty="0"/>
              <a:t> </a:t>
            </a:r>
            <a:r>
              <a:rPr lang="en-US" b="1" dirty="0" err="1"/>
              <a:t>dụ</a:t>
            </a:r>
            <a:r>
              <a:rPr lang="en-US" b="1" dirty="0"/>
              <a:t> </a:t>
            </a:r>
            <a:r>
              <a:rPr lang="en-US" b="1" dirty="0" err="1"/>
              <a:t>đơn</a:t>
            </a:r>
            <a:r>
              <a:rPr lang="en-US" b="1" dirty="0"/>
              <a:t> </a:t>
            </a:r>
            <a:r>
              <a:rPr lang="en-US" b="1" dirty="0" err="1"/>
              <a:t>giản</a:t>
            </a:r>
            <a:r>
              <a:rPr lang="en-US" b="1" dirty="0"/>
              <a:t>:</a:t>
            </a:r>
          </a:p>
          <a:p>
            <a:r>
              <a:rPr lang="en-US" dirty="0" err="1"/>
              <a:t>Bàn</a:t>
            </a:r>
            <a:r>
              <a:rPr lang="en-US" dirty="0"/>
              <a:t> </a:t>
            </a:r>
            <a:r>
              <a:rPr lang="en-US" dirty="0" err="1"/>
              <a:t>phím</a:t>
            </a:r>
            <a:r>
              <a:rPr lang="en-US" dirty="0"/>
              <a:t> → </a:t>
            </a:r>
            <a:r>
              <a:rPr lang="en-US" dirty="0" err="1"/>
              <a:t>gửi</a:t>
            </a:r>
            <a:r>
              <a:rPr lang="en-US" dirty="0"/>
              <a:t> </a:t>
            </a:r>
            <a:r>
              <a:rPr lang="en-US" dirty="0" err="1"/>
              <a:t>dữ</a:t>
            </a:r>
            <a:r>
              <a:rPr lang="en-US" dirty="0"/>
              <a:t> </a:t>
            </a:r>
            <a:r>
              <a:rPr lang="en-US" dirty="0" err="1"/>
              <a:t>liệu</a:t>
            </a:r>
            <a:r>
              <a:rPr lang="en-US" dirty="0"/>
              <a:t> </a:t>
            </a:r>
            <a:r>
              <a:rPr lang="en-US" dirty="0" err="1"/>
              <a:t>vào</a:t>
            </a:r>
            <a:r>
              <a:rPr lang="en-US" dirty="0"/>
              <a:t> </a:t>
            </a:r>
            <a:r>
              <a:rPr lang="en-US" dirty="0" err="1"/>
              <a:t>hệ</a:t>
            </a:r>
            <a:r>
              <a:rPr lang="en-US" dirty="0"/>
              <a:t> </a:t>
            </a:r>
            <a:r>
              <a:rPr lang="en-US" dirty="0" err="1"/>
              <a:t>thống</a:t>
            </a:r>
            <a:r>
              <a:rPr lang="en-US" dirty="0"/>
              <a:t> (input class) </a:t>
            </a:r>
          </a:p>
          <a:p>
            <a:r>
              <a:rPr lang="en-US" dirty="0" err="1"/>
              <a:t>Màn</a:t>
            </a:r>
            <a:r>
              <a:rPr lang="en-US" dirty="0"/>
              <a:t> </a:t>
            </a:r>
            <a:r>
              <a:rPr lang="en-US" dirty="0" err="1"/>
              <a:t>hình</a:t>
            </a:r>
            <a:r>
              <a:rPr lang="en-US" dirty="0"/>
              <a:t> → </a:t>
            </a:r>
            <a:r>
              <a:rPr lang="en-US" dirty="0" err="1"/>
              <a:t>hiển</a:t>
            </a:r>
            <a:r>
              <a:rPr lang="en-US" dirty="0"/>
              <a:t> </a:t>
            </a:r>
            <a:r>
              <a:rPr lang="en-US" dirty="0" err="1"/>
              <a:t>thị</a:t>
            </a:r>
            <a:r>
              <a:rPr lang="en-US" dirty="0"/>
              <a:t> </a:t>
            </a:r>
            <a:r>
              <a:rPr lang="en-US" dirty="0" err="1"/>
              <a:t>kết</a:t>
            </a:r>
            <a:r>
              <a:rPr lang="en-US" dirty="0"/>
              <a:t> </a:t>
            </a:r>
            <a:r>
              <a:rPr lang="en-US" dirty="0" err="1"/>
              <a:t>quả</a:t>
            </a:r>
            <a:r>
              <a:rPr lang="en-US" dirty="0"/>
              <a:t> (output class) </a:t>
            </a:r>
          </a:p>
          <a:p>
            <a:r>
              <a:rPr lang="en-US" dirty="0"/>
              <a:t>GUI app → </a:t>
            </a:r>
            <a:r>
              <a:rPr lang="en-US" dirty="0" err="1"/>
              <a:t>nhận</a:t>
            </a:r>
            <a:r>
              <a:rPr lang="en-US" dirty="0"/>
              <a:t> click, </a:t>
            </a:r>
            <a:r>
              <a:rPr lang="en-US" dirty="0" err="1"/>
              <a:t>nhập</a:t>
            </a:r>
            <a:r>
              <a:rPr lang="en-US" dirty="0"/>
              <a:t> </a:t>
            </a:r>
            <a:r>
              <a:rPr lang="en-US" dirty="0" err="1"/>
              <a:t>liệu</a:t>
            </a:r>
            <a:r>
              <a:rPr lang="en-US" dirty="0"/>
              <a:t> </a:t>
            </a:r>
            <a:r>
              <a:rPr lang="en-US" dirty="0" err="1"/>
              <a:t>từ</a:t>
            </a:r>
            <a:r>
              <a:rPr lang="en-US" dirty="0"/>
              <a:t> </a:t>
            </a:r>
            <a:r>
              <a:rPr lang="en-US" dirty="0" err="1"/>
              <a:t>người</a:t>
            </a:r>
            <a:r>
              <a:rPr lang="en-US" dirty="0"/>
              <a:t> </a:t>
            </a:r>
            <a:r>
              <a:rPr lang="en-US" dirty="0" err="1"/>
              <a:t>dùng</a:t>
            </a:r>
            <a:endParaRPr lang="en-US" dirty="0"/>
          </a:p>
          <a:p>
            <a:endParaRPr lang="en-US" dirty="0"/>
          </a:p>
          <a:p>
            <a:r>
              <a:rPr lang="en-US" dirty="0"/>
              <a:t>=&gt; “External/boundary classes = </a:t>
            </a:r>
            <a:r>
              <a:rPr lang="en-US" dirty="0" err="1"/>
              <a:t>lớp</a:t>
            </a:r>
            <a:r>
              <a:rPr lang="en-US" dirty="0"/>
              <a:t> </a:t>
            </a:r>
            <a:r>
              <a:rPr lang="en-US" dirty="0" err="1"/>
              <a:t>giúp</a:t>
            </a:r>
            <a:r>
              <a:rPr lang="en-US" dirty="0"/>
              <a:t> </a:t>
            </a:r>
            <a:r>
              <a:rPr lang="en-US" dirty="0" err="1"/>
              <a:t>phần</a:t>
            </a:r>
            <a:r>
              <a:rPr lang="en-US" dirty="0"/>
              <a:t> </a:t>
            </a:r>
            <a:r>
              <a:rPr lang="en-US" dirty="0" err="1"/>
              <a:t>mềm</a:t>
            </a:r>
            <a:r>
              <a:rPr lang="en-US" dirty="0"/>
              <a:t> </a:t>
            </a:r>
            <a:r>
              <a:rPr lang="en-US" dirty="0" err="1"/>
              <a:t>nói</a:t>
            </a:r>
            <a:r>
              <a:rPr lang="en-US" dirty="0"/>
              <a:t> </a:t>
            </a:r>
            <a:r>
              <a:rPr lang="en-US" dirty="0" err="1"/>
              <a:t>chuyện</a:t>
            </a:r>
            <a:r>
              <a:rPr lang="en-US" dirty="0"/>
              <a:t> </a:t>
            </a:r>
            <a:r>
              <a:rPr lang="en-US" dirty="0" err="1"/>
              <a:t>với</a:t>
            </a:r>
            <a:r>
              <a:rPr lang="en-US" dirty="0"/>
              <a:t> </a:t>
            </a:r>
            <a:r>
              <a:rPr lang="en-US" dirty="0" err="1"/>
              <a:t>bên</a:t>
            </a:r>
            <a:r>
              <a:rPr lang="en-US" dirty="0"/>
              <a:t> </a:t>
            </a:r>
            <a:r>
              <a:rPr lang="en-US" dirty="0" err="1"/>
              <a:t>ngoài</a:t>
            </a:r>
            <a:r>
              <a:rPr lang="en-US" dirty="0"/>
              <a:t>”</a:t>
            </a:r>
            <a:br>
              <a:rPr lang="en-US" dirty="0"/>
            </a:br>
            <a:r>
              <a:rPr lang="en-US" dirty="0" err="1"/>
              <a:t>Chúng</a:t>
            </a:r>
            <a:r>
              <a:rPr lang="en-US" dirty="0"/>
              <a:t> </a:t>
            </a:r>
            <a:r>
              <a:rPr lang="en-US" b="1" dirty="0" err="1"/>
              <a:t>không</a:t>
            </a:r>
            <a:r>
              <a:rPr lang="en-US" b="1" dirty="0"/>
              <a:t> </a:t>
            </a:r>
            <a:r>
              <a:rPr lang="en-US" b="1" dirty="0" err="1"/>
              <a:t>xử</a:t>
            </a:r>
            <a:r>
              <a:rPr lang="en-US" b="1" dirty="0"/>
              <a:t> </a:t>
            </a:r>
            <a:r>
              <a:rPr lang="en-US" b="1" dirty="0" err="1"/>
              <a:t>lý</a:t>
            </a:r>
            <a:r>
              <a:rPr lang="en-US" b="1" dirty="0"/>
              <a:t> logic </a:t>
            </a:r>
            <a:r>
              <a:rPr lang="en-US" b="1" dirty="0" err="1"/>
              <a:t>chính</a:t>
            </a:r>
            <a:r>
              <a:rPr lang="en-US" dirty="0"/>
              <a:t>, </a:t>
            </a:r>
            <a:r>
              <a:rPr lang="en-US" dirty="0" err="1"/>
              <a:t>chỉ</a:t>
            </a:r>
            <a:r>
              <a:rPr lang="en-US" dirty="0"/>
              <a:t> </a:t>
            </a:r>
            <a:r>
              <a:rPr lang="en-US" b="1" dirty="0" err="1"/>
              <a:t>nhận</a:t>
            </a:r>
            <a:r>
              <a:rPr lang="en-US" b="1" dirty="0"/>
              <a:t> </a:t>
            </a:r>
            <a:r>
              <a:rPr lang="en-US" b="1" dirty="0" err="1"/>
              <a:t>và</a:t>
            </a:r>
            <a:r>
              <a:rPr lang="en-US" b="1" dirty="0"/>
              <a:t> </a:t>
            </a:r>
            <a:r>
              <a:rPr lang="en-US" b="1" dirty="0" err="1"/>
              <a:t>gửi</a:t>
            </a:r>
            <a:r>
              <a:rPr lang="en-US" b="1" dirty="0"/>
              <a:t> </a:t>
            </a:r>
            <a:r>
              <a:rPr lang="en-US" b="1" dirty="0" err="1"/>
              <a:t>dữ</a:t>
            </a:r>
            <a:r>
              <a:rPr lang="en-US" b="1" dirty="0"/>
              <a:t> </a:t>
            </a:r>
            <a:r>
              <a:rPr lang="en-US" b="1" dirty="0" err="1"/>
              <a:t>liệu</a:t>
            </a:r>
            <a:r>
              <a:rPr lang="en-US" dirty="0"/>
              <a:t>.</a:t>
            </a:r>
          </a:p>
          <a:p>
            <a:endParaRPr lang="en-US" dirty="0"/>
          </a:p>
        </p:txBody>
      </p:sp>
      <p:sp>
        <p:nvSpPr>
          <p:cNvPr id="4" name="Slide Number Placeholder 3"/>
          <p:cNvSpPr>
            <a:spLocks noGrp="1"/>
          </p:cNvSpPr>
          <p:nvPr>
            <p:ph type="sldNum" sz="quarter" idx="5"/>
          </p:nvPr>
        </p:nvSpPr>
        <p:spPr/>
        <p:txBody>
          <a:bodyPr/>
          <a:lstStyle/>
          <a:p>
            <a:fld id="{CDAE0073-C388-4BBC-94F1-A3FD064D5EAA}" type="slidenum">
              <a:rPr lang="en-GB" smtClean="0"/>
              <a:t>7</a:t>
            </a:fld>
            <a:endParaRPr lang="en-GB"/>
          </a:p>
        </p:txBody>
      </p:sp>
    </p:spTree>
    <p:extLst>
      <p:ext uri="{BB962C8B-B14F-4D97-AF65-F5344CB8AC3E}">
        <p14:creationId xmlns:p14="http://schemas.microsoft.com/office/powerpoint/2010/main" val="2799684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DAE0073-C388-4BBC-94F1-A3FD064D5EAA}" type="slidenum">
              <a:rPr lang="en-GB" smtClean="0"/>
              <a:t>10</a:t>
            </a:fld>
            <a:endParaRPr lang="en-GB"/>
          </a:p>
        </p:txBody>
      </p:sp>
    </p:spTree>
    <p:extLst>
      <p:ext uri="{BB962C8B-B14F-4D97-AF65-F5344CB8AC3E}">
        <p14:creationId xmlns:p14="http://schemas.microsoft.com/office/powerpoint/2010/main" val="32089584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Phiên</a:t>
            </a:r>
            <a:r>
              <a:rPr lang="en-US" dirty="0"/>
              <a:t> </a:t>
            </a:r>
            <a:r>
              <a:rPr lang="en-US" dirty="0" err="1"/>
              <a:t>bản</a:t>
            </a:r>
            <a:r>
              <a:rPr lang="en-US" dirty="0"/>
              <a:t> </a:t>
            </a:r>
            <a:r>
              <a:rPr lang="en-US" dirty="0" err="1"/>
              <a:t>ngắn</a:t>
            </a:r>
            <a:r>
              <a:rPr lang="en-US" dirty="0"/>
              <a:t> </a:t>
            </a:r>
            <a:r>
              <a:rPr lang="en-US" dirty="0" err="1"/>
              <a:t>hơn</a:t>
            </a:r>
            <a:r>
              <a:rPr lang="en-US" dirty="0"/>
              <a:t>: </a:t>
            </a:r>
          </a:p>
          <a:p>
            <a:pPr marL="171450" indent="-171450">
              <a:buFontTx/>
              <a:buChar char="-"/>
            </a:pPr>
            <a:r>
              <a:rPr lang="vi-VN" dirty="0"/>
              <a:t>Business Logic Object</a:t>
            </a:r>
            <a:r>
              <a:rPr lang="en-US" dirty="0"/>
              <a:t>: đ</a:t>
            </a:r>
            <a:r>
              <a:rPr lang="vi-VN" dirty="0"/>
              <a:t>ây là object chứa các quy tắc nghiệp vụ của hệ thống.</a:t>
            </a:r>
            <a:endParaRPr lang="en-US" dirty="0"/>
          </a:p>
          <a:p>
            <a:pPr marL="171450" indent="-171450">
              <a:buFontTx/>
              <a:buChar char="-"/>
            </a:pPr>
            <a:r>
              <a:rPr lang="vi-VN" dirty="0"/>
              <a:t>Mục tiêu là:</a:t>
            </a:r>
            <a:r>
              <a:rPr lang="en-US" dirty="0"/>
              <a:t> </a:t>
            </a:r>
            <a:r>
              <a:rPr lang="vi-VN" dirty="0"/>
              <a:t>gom logic nghiệp vụ vào chỗ riêngẩn (encapsulate) các rule xử lý</a:t>
            </a:r>
            <a:r>
              <a:rPr lang="en-US" dirty="0"/>
              <a:t>, </a:t>
            </a:r>
            <a:r>
              <a:rPr lang="vi-VN" dirty="0"/>
              <a:t>tách khỏi object dữ liệu (entity)</a:t>
            </a:r>
            <a:endParaRPr lang="en-US" dirty="0"/>
          </a:p>
          <a:p>
            <a:pPr marL="171450" indent="-171450">
              <a:buFontTx/>
              <a:buChar char="-"/>
            </a:pPr>
            <a:r>
              <a:rPr lang="vi-VN" dirty="0"/>
              <a:t>Vì:</a:t>
            </a:r>
            <a:r>
              <a:rPr lang="en-US" dirty="0"/>
              <a:t> </a:t>
            </a:r>
            <a:r>
              <a:rPr lang="vi-VN" dirty="0"/>
              <a:t>dữ liệu thường ít đổi</a:t>
            </a:r>
            <a:r>
              <a:rPr lang="en-US" dirty="0"/>
              <a:t>, </a:t>
            </a:r>
            <a:r>
              <a:rPr lang="vi-VN" dirty="0"/>
              <a:t>nhưng quy tắc nghiệp vụ có thể thay đổi thường xuyên.</a:t>
            </a:r>
            <a:endParaRPr lang="en-US" dirty="0"/>
          </a:p>
          <a:p>
            <a:r>
              <a:rPr lang="en-US" dirty="0"/>
              <a:t>//==========================================</a:t>
            </a:r>
            <a:br>
              <a:rPr lang="en-US" dirty="0"/>
            </a:br>
            <a:r>
              <a:rPr lang="en-US" dirty="0"/>
              <a:t>Các </a:t>
            </a:r>
            <a:r>
              <a:rPr lang="en-US" dirty="0" err="1"/>
              <a:t>đối</a:t>
            </a:r>
            <a:r>
              <a:rPr lang="en-US" dirty="0"/>
              <a:t> </a:t>
            </a:r>
            <a:r>
              <a:rPr lang="en-US" dirty="0" err="1"/>
              <a:t>tượng</a:t>
            </a:r>
            <a:r>
              <a:rPr lang="en-US" dirty="0"/>
              <a:t> logic </a:t>
            </a:r>
            <a:r>
              <a:rPr lang="en-US" dirty="0" err="1"/>
              <a:t>nghiệp</a:t>
            </a:r>
            <a:r>
              <a:rPr lang="en-US" dirty="0"/>
              <a:t> </a:t>
            </a:r>
            <a:r>
              <a:rPr lang="en-US" dirty="0" err="1"/>
              <a:t>vụ</a:t>
            </a:r>
            <a:endParaRPr lang="en-US" dirty="0"/>
          </a:p>
          <a:p>
            <a:r>
              <a:rPr lang="en-US" dirty="0"/>
              <a:t>Định </a:t>
            </a:r>
            <a:r>
              <a:rPr lang="en-US" dirty="0" err="1"/>
              <a:t>nghĩa</a:t>
            </a:r>
            <a:r>
              <a:rPr lang="en-US" dirty="0"/>
              <a:t> logic </a:t>
            </a:r>
            <a:r>
              <a:rPr lang="en-US" dirty="0" err="1"/>
              <a:t>ứng</a:t>
            </a:r>
            <a:r>
              <a:rPr lang="en-US" dirty="0"/>
              <a:t> </a:t>
            </a:r>
            <a:r>
              <a:rPr lang="en-US" dirty="0" err="1"/>
              <a:t>dụng</a:t>
            </a:r>
            <a:r>
              <a:rPr lang="en-US" dirty="0"/>
              <a:t> </a:t>
            </a:r>
            <a:r>
              <a:rPr lang="en-US" dirty="0" err="1"/>
              <a:t>mang</a:t>
            </a:r>
            <a:r>
              <a:rPr lang="en-US" dirty="0"/>
              <a:t> </a:t>
            </a:r>
            <a:r>
              <a:rPr lang="en-US" dirty="0" err="1"/>
              <a:t>tính</a:t>
            </a:r>
            <a:r>
              <a:rPr lang="en-US" dirty="0"/>
              <a:t> </a:t>
            </a:r>
            <a:r>
              <a:rPr lang="en-US" dirty="0" err="1"/>
              <a:t>nghiệp</a:t>
            </a:r>
            <a:r>
              <a:rPr lang="en-US" dirty="0"/>
              <a:t> </a:t>
            </a:r>
            <a:r>
              <a:rPr lang="en-US" dirty="0" err="1"/>
              <a:t>vụ</a:t>
            </a:r>
            <a:r>
              <a:rPr lang="en-US" dirty="0"/>
              <a:t> </a:t>
            </a:r>
            <a:r>
              <a:rPr lang="en-US" dirty="0" err="1"/>
              <a:t>để</a:t>
            </a:r>
            <a:r>
              <a:rPr lang="en-US" dirty="0"/>
              <a:t> </a:t>
            </a:r>
            <a:r>
              <a:rPr lang="en-US" dirty="0" err="1"/>
              <a:t>xử</a:t>
            </a:r>
            <a:r>
              <a:rPr lang="en-US" dirty="0"/>
              <a:t> </a:t>
            </a:r>
            <a:r>
              <a:rPr lang="en-US" dirty="0" err="1"/>
              <a:t>lý</a:t>
            </a:r>
            <a:r>
              <a:rPr lang="en-US" dirty="0"/>
              <a:t> </a:t>
            </a:r>
            <a:r>
              <a:rPr lang="en-US" dirty="0" err="1"/>
              <a:t>yêu</a:t>
            </a:r>
            <a:r>
              <a:rPr lang="en-US" dirty="0"/>
              <a:t> </a:t>
            </a:r>
            <a:r>
              <a:rPr lang="en-US" dirty="0" err="1"/>
              <a:t>cầu</a:t>
            </a:r>
            <a:r>
              <a:rPr lang="en-US" dirty="0"/>
              <a:t> </a:t>
            </a:r>
            <a:r>
              <a:rPr lang="en-US" dirty="0" err="1"/>
              <a:t>từ</a:t>
            </a:r>
            <a:r>
              <a:rPr lang="en-US" dirty="0"/>
              <a:t> client.</a:t>
            </a:r>
          </a:p>
          <a:p>
            <a:r>
              <a:rPr lang="en-US" dirty="0" err="1"/>
              <a:t>Mục</a:t>
            </a:r>
            <a:r>
              <a:rPr lang="en-US" dirty="0"/>
              <a:t> </a:t>
            </a:r>
            <a:r>
              <a:rPr lang="en-US" dirty="0" err="1"/>
              <a:t>tiêu</a:t>
            </a:r>
            <a:r>
              <a:rPr lang="en-US" dirty="0"/>
              <a:t> </a:t>
            </a:r>
            <a:r>
              <a:rPr lang="en-US" dirty="0" err="1"/>
              <a:t>là</a:t>
            </a:r>
            <a:r>
              <a:rPr lang="en-US" dirty="0"/>
              <a:t> </a:t>
            </a:r>
            <a:r>
              <a:rPr lang="en-US" dirty="0" err="1"/>
              <a:t>đóng</a:t>
            </a:r>
            <a:r>
              <a:rPr lang="en-US" dirty="0"/>
              <a:t> </a:t>
            </a:r>
            <a:r>
              <a:rPr lang="en-US" dirty="0" err="1"/>
              <a:t>gói</a:t>
            </a:r>
            <a:r>
              <a:rPr lang="en-US" dirty="0"/>
              <a:t> (</a:t>
            </a:r>
            <a:r>
              <a:rPr lang="en-US" dirty="0" err="1"/>
              <a:t>ẩn</a:t>
            </a:r>
            <a:r>
              <a:rPr lang="en-US" dirty="0"/>
              <a:t>) </a:t>
            </a:r>
            <a:r>
              <a:rPr lang="en-US" dirty="0" err="1"/>
              <a:t>các</a:t>
            </a:r>
            <a:r>
              <a:rPr lang="en-US" dirty="0"/>
              <a:t> </a:t>
            </a:r>
            <a:r>
              <a:rPr lang="en-US" dirty="0" err="1"/>
              <a:t>quy</a:t>
            </a:r>
            <a:r>
              <a:rPr lang="en-US" dirty="0"/>
              <a:t> </a:t>
            </a:r>
            <a:r>
              <a:rPr lang="en-US" dirty="0" err="1"/>
              <a:t>tắc</a:t>
            </a:r>
            <a:r>
              <a:rPr lang="en-US" dirty="0"/>
              <a:t> </a:t>
            </a:r>
            <a:r>
              <a:rPr lang="en-US" dirty="0" err="1"/>
              <a:t>nghiệp</a:t>
            </a:r>
            <a:r>
              <a:rPr lang="en-US" dirty="0"/>
              <a:t> </a:t>
            </a:r>
            <a:r>
              <a:rPr lang="en-US" dirty="0" err="1"/>
              <a:t>vụ</a:t>
            </a:r>
            <a:r>
              <a:rPr lang="en-US" dirty="0"/>
              <a:t> </a:t>
            </a:r>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độc</a:t>
            </a:r>
            <a:r>
              <a:rPr lang="en-US" dirty="0"/>
              <a:t> </a:t>
            </a:r>
            <a:r>
              <a:rPr lang="en-US" dirty="0" err="1"/>
              <a:t>lập</a:t>
            </a:r>
            <a:r>
              <a:rPr lang="en-US" dirty="0"/>
              <a:t> </a:t>
            </a:r>
            <a:r>
              <a:rPr lang="en-US" dirty="0" err="1"/>
              <a:t>với</a:t>
            </a:r>
            <a:r>
              <a:rPr lang="en-US" dirty="0"/>
              <a:t> </a:t>
            </a:r>
            <a:r>
              <a:rPr lang="en-US" dirty="0" err="1"/>
              <a:t>nhau</a:t>
            </a:r>
            <a:r>
              <a:rPr lang="en-US" dirty="0"/>
              <a:t> </a:t>
            </a:r>
            <a:r>
              <a:rPr lang="en-US" dirty="0" err="1"/>
              <a:t>vào</a:t>
            </a:r>
            <a:r>
              <a:rPr lang="en-US" dirty="0"/>
              <a:t> </a:t>
            </a:r>
            <a:r>
              <a:rPr lang="en-US" dirty="0" err="1"/>
              <a:t>các</a:t>
            </a:r>
            <a:r>
              <a:rPr lang="en-US" dirty="0"/>
              <a:t> </a:t>
            </a:r>
            <a:r>
              <a:rPr lang="en-US" dirty="0" err="1"/>
              <a:t>đối</a:t>
            </a:r>
            <a:r>
              <a:rPr lang="en-US" dirty="0"/>
              <a:t> </a:t>
            </a:r>
            <a:r>
              <a:rPr lang="en-US" dirty="0" err="1"/>
              <a:t>tượng</a:t>
            </a:r>
            <a:r>
              <a:rPr lang="en-US" dirty="0"/>
              <a:t> business logic </a:t>
            </a:r>
            <a:r>
              <a:rPr lang="en-US" dirty="0" err="1"/>
              <a:t>riêng</a:t>
            </a:r>
            <a:r>
              <a:rPr lang="en-US" dirty="0"/>
              <a:t> </a:t>
            </a:r>
            <a:r>
              <a:rPr lang="en-US" dirty="0" err="1"/>
              <a:t>biệt</a:t>
            </a:r>
            <a:r>
              <a:rPr lang="en-US" dirty="0"/>
              <a:t>.</a:t>
            </a:r>
          </a:p>
          <a:p>
            <a:r>
              <a:rPr lang="en-US" dirty="0" err="1"/>
              <a:t>Tách</a:t>
            </a:r>
            <a:r>
              <a:rPr lang="en-US" dirty="0"/>
              <a:t> </a:t>
            </a:r>
            <a:r>
              <a:rPr lang="en-US" dirty="0" err="1"/>
              <a:t>các</a:t>
            </a:r>
            <a:r>
              <a:rPr lang="en-US" dirty="0"/>
              <a:t> </a:t>
            </a:r>
            <a:r>
              <a:rPr lang="en-US" dirty="0" err="1"/>
              <a:t>quy</a:t>
            </a:r>
            <a:r>
              <a:rPr lang="en-US" dirty="0"/>
              <a:t> </a:t>
            </a:r>
            <a:r>
              <a:rPr lang="en-US" dirty="0" err="1"/>
              <a:t>tắc</a:t>
            </a:r>
            <a:r>
              <a:rPr lang="en-US" dirty="0"/>
              <a:t> </a:t>
            </a:r>
            <a:r>
              <a:rPr lang="en-US" dirty="0" err="1"/>
              <a:t>nghiệp</a:t>
            </a:r>
            <a:r>
              <a:rPr lang="en-US" dirty="0"/>
              <a:t> </a:t>
            </a:r>
            <a:r>
              <a:rPr lang="en-US" dirty="0" err="1"/>
              <a:t>vụ</a:t>
            </a:r>
            <a:r>
              <a:rPr lang="en-US" dirty="0"/>
              <a:t> </a:t>
            </a:r>
            <a:r>
              <a:rPr lang="en-US" dirty="0" err="1"/>
              <a:t>ra</a:t>
            </a:r>
            <a:r>
              <a:rPr lang="en-US" dirty="0"/>
              <a:t> </a:t>
            </a:r>
            <a:r>
              <a:rPr lang="en-US" dirty="0" err="1"/>
              <a:t>khỏi</a:t>
            </a:r>
            <a:r>
              <a:rPr lang="en-US" dirty="0"/>
              <a:t> </a:t>
            </a:r>
            <a:r>
              <a:rPr lang="en-US" dirty="0" err="1"/>
              <a:t>dữ</a:t>
            </a:r>
            <a:r>
              <a:rPr lang="en-US" dirty="0"/>
              <a:t> </a:t>
            </a:r>
            <a:r>
              <a:rPr lang="en-US" dirty="0" err="1"/>
              <a:t>liệu</a:t>
            </a:r>
            <a:r>
              <a:rPr lang="en-US" dirty="0"/>
              <a:t> </a:t>
            </a:r>
            <a:r>
              <a:rPr lang="en-US" dirty="0" err="1"/>
              <a:t>thực</a:t>
            </a:r>
            <a:r>
              <a:rPr lang="en-US" dirty="0"/>
              <a:t> </a:t>
            </a:r>
            <a:r>
              <a:rPr lang="en-US" dirty="0" err="1"/>
              <a:t>thể</a:t>
            </a:r>
            <a:r>
              <a:rPr lang="en-US" dirty="0"/>
              <a:t> (entity data) </a:t>
            </a:r>
            <a:r>
              <a:rPr lang="en-US" dirty="0" err="1"/>
              <a:t>mà</a:t>
            </a:r>
            <a:r>
              <a:rPr lang="en-US" dirty="0"/>
              <a:t> </a:t>
            </a:r>
            <a:r>
              <a:rPr lang="en-US" dirty="0" err="1"/>
              <a:t>chúng</a:t>
            </a:r>
            <a:r>
              <a:rPr lang="en-US" dirty="0"/>
              <a:t> </a:t>
            </a:r>
            <a:r>
              <a:rPr lang="en-US" dirty="0" err="1"/>
              <a:t>thao</a:t>
            </a:r>
            <a:r>
              <a:rPr lang="en-US" dirty="0"/>
              <a:t> </a:t>
            </a:r>
            <a:r>
              <a:rPr lang="en-US" dirty="0" err="1"/>
              <a:t>tác</a:t>
            </a:r>
            <a:r>
              <a:rPr lang="en-US" dirty="0"/>
              <a:t> </a:t>
            </a:r>
            <a:r>
              <a:rPr lang="en-US" dirty="0" err="1"/>
              <a:t>trên</a:t>
            </a:r>
            <a:r>
              <a:rPr lang="en-US" dirty="0"/>
              <a:t> </a:t>
            </a:r>
            <a:r>
              <a:rPr lang="en-US" dirty="0" err="1"/>
              <a:t>đó</a:t>
            </a:r>
            <a:r>
              <a:rPr lang="en-US" dirty="0"/>
              <a:t>, </a:t>
            </a:r>
            <a:r>
              <a:rPr lang="en-US" dirty="0" err="1"/>
              <a:t>vì</a:t>
            </a:r>
            <a:r>
              <a:rPr lang="en-US" dirty="0"/>
              <a:t> </a:t>
            </a:r>
            <a:r>
              <a:rPr lang="en-US" dirty="0" err="1"/>
              <a:t>các</a:t>
            </a:r>
            <a:r>
              <a:rPr lang="en-US" dirty="0"/>
              <a:t> </a:t>
            </a:r>
            <a:r>
              <a:rPr lang="en-US" dirty="0" err="1"/>
              <a:t>quy</a:t>
            </a:r>
            <a:r>
              <a:rPr lang="en-US" dirty="0"/>
              <a:t> </a:t>
            </a:r>
            <a:r>
              <a:rPr lang="en-US" dirty="0" err="1"/>
              <a:t>tắc</a:t>
            </a:r>
            <a:r>
              <a:rPr lang="en-US" dirty="0"/>
              <a:t> </a:t>
            </a:r>
            <a:r>
              <a:rPr lang="en-US" dirty="0" err="1"/>
              <a:t>nghiệp</a:t>
            </a:r>
            <a:r>
              <a:rPr lang="en-US" dirty="0"/>
              <a:t> </a:t>
            </a:r>
            <a:r>
              <a:rPr lang="en-US" dirty="0" err="1"/>
              <a:t>vụ</a:t>
            </a:r>
            <a:r>
              <a:rPr lang="en-US" dirty="0"/>
              <a:t> </a:t>
            </a:r>
            <a:r>
              <a:rPr lang="en-US" dirty="0" err="1"/>
              <a:t>có</a:t>
            </a:r>
            <a:r>
              <a:rPr lang="en-US" dirty="0"/>
              <a:t> </a:t>
            </a:r>
            <a:r>
              <a:rPr lang="en-US" dirty="0" err="1"/>
              <a:t>thể</a:t>
            </a:r>
            <a:r>
              <a:rPr lang="en-US" dirty="0"/>
              <a:t> </a:t>
            </a:r>
            <a:r>
              <a:rPr lang="en-US" dirty="0" err="1"/>
              <a:t>thay</a:t>
            </a:r>
            <a:r>
              <a:rPr lang="en-US" dirty="0"/>
              <a:t> </a:t>
            </a:r>
            <a:r>
              <a:rPr lang="en-US" dirty="0" err="1"/>
              <a:t>đổi</a:t>
            </a:r>
            <a:r>
              <a:rPr lang="en-US" dirty="0"/>
              <a:t> </a:t>
            </a:r>
            <a:r>
              <a:rPr lang="en-US" dirty="0" err="1"/>
              <a:t>độc</a:t>
            </a:r>
            <a:r>
              <a:rPr lang="en-US" dirty="0"/>
              <a:t> </a:t>
            </a:r>
            <a:r>
              <a:rPr lang="en-US" dirty="0" err="1"/>
              <a:t>lập</a:t>
            </a:r>
            <a:r>
              <a:rPr lang="en-US" dirty="0"/>
              <a:t> </a:t>
            </a:r>
            <a:r>
              <a:rPr lang="en-US" dirty="0" err="1"/>
              <a:t>với</a:t>
            </a:r>
            <a:r>
              <a:rPr lang="en-US" dirty="0"/>
              <a:t> </a:t>
            </a:r>
            <a:r>
              <a:rPr lang="en-US" dirty="0" err="1"/>
              <a:t>dữ</a:t>
            </a:r>
            <a:r>
              <a:rPr lang="en-US" dirty="0"/>
              <a:t> </a:t>
            </a:r>
            <a:r>
              <a:rPr lang="en-US" dirty="0" err="1"/>
              <a:t>liệu</a:t>
            </a:r>
            <a:r>
              <a:rPr lang="en-US" dirty="0"/>
              <a:t> </a:t>
            </a:r>
            <a:r>
              <a:rPr lang="en-US" dirty="0" err="1"/>
              <a:t>thực</a:t>
            </a:r>
            <a:r>
              <a:rPr lang="en-US" dirty="0"/>
              <a:t> </a:t>
            </a:r>
            <a:r>
              <a:rPr lang="en-US" dirty="0" err="1"/>
              <a:t>thể</a:t>
            </a:r>
            <a:r>
              <a:rPr lang="en-US" dirty="0"/>
              <a:t>.</a:t>
            </a:r>
          </a:p>
          <a:p>
            <a:endParaRPr lang="en-US" dirty="0"/>
          </a:p>
        </p:txBody>
      </p:sp>
      <p:sp>
        <p:nvSpPr>
          <p:cNvPr id="4" name="Slide Number Placeholder 3"/>
          <p:cNvSpPr>
            <a:spLocks noGrp="1"/>
          </p:cNvSpPr>
          <p:nvPr>
            <p:ph type="sldNum" sz="quarter" idx="5"/>
          </p:nvPr>
        </p:nvSpPr>
        <p:spPr/>
        <p:txBody>
          <a:bodyPr/>
          <a:lstStyle/>
          <a:p>
            <a:fld id="{CDAE0073-C388-4BBC-94F1-A3FD064D5EAA}" type="slidenum">
              <a:rPr lang="en-GB" smtClean="0"/>
              <a:t>12</a:t>
            </a:fld>
            <a:endParaRPr lang="en-GB"/>
          </a:p>
        </p:txBody>
      </p:sp>
    </p:spTree>
    <p:extLst>
      <p:ext uri="{BB962C8B-B14F-4D97-AF65-F5344CB8AC3E}">
        <p14:creationId xmlns:p14="http://schemas.microsoft.com/office/powerpoint/2010/main" val="2773458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diagram </a:t>
            </a:r>
            <a:r>
              <a:rPr lang="en-US" dirty="0" err="1"/>
              <a:t>trên</a:t>
            </a:r>
            <a:r>
              <a:rPr lang="en-US" dirty="0"/>
              <a:t> </a:t>
            </a:r>
            <a:r>
              <a:rPr lang="en-US" dirty="0" err="1"/>
              <a:t>mô</a:t>
            </a:r>
            <a:r>
              <a:rPr lang="en-US" dirty="0"/>
              <a:t> </a:t>
            </a:r>
            <a:r>
              <a:rPr lang="en-US" dirty="0" err="1"/>
              <a:t>tả</a:t>
            </a:r>
            <a:r>
              <a:rPr lang="en-US" dirty="0"/>
              <a:t> </a:t>
            </a:r>
            <a:r>
              <a:rPr lang="en-US" dirty="0" err="1"/>
              <a:t>các</a:t>
            </a:r>
            <a:r>
              <a:rPr lang="en-US" dirty="0"/>
              <a:t> object </a:t>
            </a:r>
            <a:r>
              <a:rPr lang="en-US" dirty="0" err="1"/>
              <a:t>trong</a:t>
            </a:r>
            <a:r>
              <a:rPr lang="en-US" dirty="0"/>
              <a:t> </a:t>
            </a:r>
            <a:r>
              <a:rPr lang="en-US" dirty="0" err="1"/>
              <a:t>hệ</a:t>
            </a:r>
            <a:r>
              <a:rPr lang="en-US" dirty="0"/>
              <a:t> </a:t>
            </a:r>
            <a:r>
              <a:rPr lang="en-US" dirty="0" err="1"/>
              <a:t>thống</a:t>
            </a:r>
            <a:r>
              <a:rPr lang="en-US" dirty="0"/>
              <a:t> </a:t>
            </a:r>
            <a:r>
              <a:rPr lang="en-US" dirty="0" err="1"/>
              <a:t>ngân</a:t>
            </a:r>
            <a:r>
              <a:rPr lang="en-US" dirty="0"/>
              <a:t> </a:t>
            </a:r>
            <a:r>
              <a:rPr lang="en-US" dirty="0" err="1"/>
              <a:t>hàng</a:t>
            </a:r>
            <a:r>
              <a:rPr lang="en-US" dirty="0"/>
              <a:t> </a:t>
            </a:r>
            <a:r>
              <a:rPr lang="en-US" dirty="0" err="1"/>
              <a:t>phối</a:t>
            </a:r>
            <a:r>
              <a:rPr lang="en-US" dirty="0"/>
              <a:t> </a:t>
            </a:r>
            <a:r>
              <a:rPr lang="en-US" dirty="0" err="1"/>
              <a:t>hợp</a:t>
            </a:r>
            <a:r>
              <a:rPr lang="en-US" dirty="0"/>
              <a:t> </a:t>
            </a:r>
            <a:r>
              <a:rPr lang="en-US" dirty="0" err="1"/>
              <a:t>với</a:t>
            </a:r>
            <a:r>
              <a:rPr lang="en-US" dirty="0"/>
              <a:t> </a:t>
            </a:r>
            <a:r>
              <a:rPr lang="en-US" dirty="0" err="1"/>
              <a:t>nhau</a:t>
            </a:r>
            <a:r>
              <a:rPr lang="en-US" dirty="0"/>
              <a:t> </a:t>
            </a:r>
            <a:r>
              <a:rPr lang="en-US" dirty="0" err="1"/>
              <a:t>như</a:t>
            </a:r>
            <a:r>
              <a:rPr lang="en-US" dirty="0"/>
              <a:t> </a:t>
            </a:r>
            <a:r>
              <a:rPr lang="en-US" dirty="0" err="1"/>
              <a:t>thế</a:t>
            </a:r>
            <a:r>
              <a:rPr lang="en-US" dirty="0"/>
              <a:t> </a:t>
            </a:r>
            <a:r>
              <a:rPr lang="en-US" dirty="0" err="1"/>
              <a:t>nào</a:t>
            </a:r>
            <a:r>
              <a:rPr lang="en-US" dirty="0"/>
              <a:t> </a:t>
            </a:r>
            <a:r>
              <a:rPr lang="en-US" dirty="0" err="1"/>
              <a:t>để</a:t>
            </a:r>
            <a:r>
              <a:rPr lang="en-US" dirty="0"/>
              <a:t> </a:t>
            </a:r>
            <a:r>
              <a:rPr lang="en-US" dirty="0" err="1"/>
              <a:t>thực</a:t>
            </a:r>
            <a:r>
              <a:rPr lang="en-US" dirty="0"/>
              <a:t> </a:t>
            </a:r>
            <a:r>
              <a:rPr lang="en-US" dirty="0" err="1"/>
              <a:t>hiện</a:t>
            </a:r>
            <a:r>
              <a:rPr lang="en-US" dirty="0"/>
              <a:t> use case “Rút </a:t>
            </a:r>
            <a:r>
              <a:rPr lang="en-US" dirty="0" err="1"/>
              <a:t>tiền</a:t>
            </a:r>
            <a:r>
              <a:rPr lang="en-US" dirty="0"/>
              <a:t>” (Withdrawal).</a:t>
            </a:r>
          </a:p>
          <a:p>
            <a:r>
              <a:rPr lang="en-US" b="1" dirty="0"/>
              <a:t>1. Các object </a:t>
            </a:r>
            <a:r>
              <a:rPr lang="en-US" b="1" dirty="0" err="1"/>
              <a:t>trong</a:t>
            </a:r>
            <a:r>
              <a:rPr lang="en-US" b="1" dirty="0"/>
              <a:t> </a:t>
            </a:r>
            <a:r>
              <a:rPr lang="en-US" b="1" dirty="0" err="1"/>
              <a:t>hình</a:t>
            </a:r>
            <a:endParaRPr lang="en-US" b="1" dirty="0"/>
          </a:p>
          <a:p>
            <a:r>
              <a:rPr lang="en-US" sz="1200" b="1" kern="1200" dirty="0">
                <a:solidFill>
                  <a:schemeClr val="tx1"/>
                </a:solidFill>
                <a:latin typeface="+mn-lt"/>
                <a:ea typeface="+mn-ea"/>
                <a:cs typeface="+mn-cs"/>
              </a:rPr>
              <a:t>&lt;&lt;coordinator&gt;&gt; : </a:t>
            </a:r>
            <a:r>
              <a:rPr lang="en-US" sz="1200" b="1" kern="1200" dirty="0" err="1">
                <a:solidFill>
                  <a:schemeClr val="tx1"/>
                </a:solidFill>
                <a:latin typeface="+mn-lt"/>
                <a:ea typeface="+mn-ea"/>
                <a:cs typeface="+mn-cs"/>
              </a:rPr>
              <a:t>BankCoordinator</a:t>
            </a:r>
            <a:endParaRPr lang="en-US" b="1" dirty="0"/>
          </a:p>
          <a:p>
            <a:r>
              <a:rPr lang="en-US" dirty="0" err="1"/>
              <a:t>Đây</a:t>
            </a:r>
            <a:r>
              <a:rPr lang="en-US" dirty="0"/>
              <a:t> </a:t>
            </a:r>
            <a:r>
              <a:rPr lang="en-US" dirty="0" err="1"/>
              <a:t>là</a:t>
            </a:r>
            <a:r>
              <a:rPr lang="en-US" dirty="0"/>
              <a:t> object </a:t>
            </a:r>
            <a:r>
              <a:rPr lang="en-US" dirty="0" err="1"/>
              <a:t>điều</a:t>
            </a:r>
            <a:r>
              <a:rPr lang="en-US" dirty="0"/>
              <a:t> </a:t>
            </a:r>
            <a:r>
              <a:rPr lang="en-US" dirty="0" err="1"/>
              <a:t>phối</a:t>
            </a:r>
            <a:r>
              <a:rPr lang="en-US" dirty="0"/>
              <a:t> </a:t>
            </a:r>
            <a:r>
              <a:rPr lang="en-US" dirty="0" err="1"/>
              <a:t>tổng</a:t>
            </a:r>
            <a:r>
              <a:rPr lang="en-US" dirty="0"/>
              <a:t> </a:t>
            </a:r>
            <a:r>
              <a:rPr lang="en-US" dirty="0" err="1"/>
              <a:t>quát</a:t>
            </a:r>
            <a:r>
              <a:rPr lang="en-US" dirty="0"/>
              <a:t>.</a:t>
            </a:r>
          </a:p>
          <a:p>
            <a:r>
              <a:rPr lang="en-US" dirty="0" err="1"/>
              <a:t>Nó</a:t>
            </a:r>
            <a:r>
              <a:rPr lang="en-US" dirty="0"/>
              <a:t> </a:t>
            </a:r>
            <a:r>
              <a:rPr lang="en-US" dirty="0" err="1"/>
              <a:t>nhận</a:t>
            </a:r>
            <a:r>
              <a:rPr lang="en-US" dirty="0"/>
              <a:t> request </a:t>
            </a:r>
            <a:r>
              <a:rPr lang="en-US" dirty="0" err="1"/>
              <a:t>từ</a:t>
            </a:r>
            <a:r>
              <a:rPr lang="en-US" dirty="0"/>
              <a:t> </a:t>
            </a:r>
            <a:r>
              <a:rPr lang="en-US" dirty="0" err="1"/>
              <a:t>bên</a:t>
            </a:r>
            <a:r>
              <a:rPr lang="en-US" dirty="0"/>
              <a:t> </a:t>
            </a:r>
            <a:r>
              <a:rPr lang="en-US" dirty="0" err="1"/>
              <a:t>ngoài</a:t>
            </a:r>
            <a:r>
              <a:rPr lang="en-US" dirty="0"/>
              <a:t>, </a:t>
            </a:r>
            <a:r>
              <a:rPr lang="en-US" dirty="0" err="1"/>
              <a:t>trả</a:t>
            </a:r>
            <a:r>
              <a:rPr lang="en-US" dirty="0"/>
              <a:t> response </a:t>
            </a:r>
            <a:r>
              <a:rPr lang="en-US" dirty="0" err="1"/>
              <a:t>ra</a:t>
            </a:r>
            <a:r>
              <a:rPr lang="en-US" dirty="0"/>
              <a:t> </a:t>
            </a:r>
            <a:r>
              <a:rPr lang="en-US" dirty="0" err="1"/>
              <a:t>ngoài</a:t>
            </a:r>
            <a:r>
              <a:rPr lang="en-US" dirty="0"/>
              <a:t>, </a:t>
            </a:r>
            <a:r>
              <a:rPr lang="en-US" dirty="0" err="1"/>
              <a:t>kiểu</a:t>
            </a:r>
            <a:r>
              <a:rPr lang="en-US" dirty="0"/>
              <a:t> </a:t>
            </a:r>
            <a:r>
              <a:rPr lang="en-US" dirty="0" err="1"/>
              <a:t>như</a:t>
            </a:r>
            <a:r>
              <a:rPr lang="en-US" dirty="0"/>
              <a:t> controller/gateway </a:t>
            </a:r>
            <a:r>
              <a:rPr lang="en-US" dirty="0" err="1"/>
              <a:t>của</a:t>
            </a:r>
            <a:r>
              <a:rPr lang="en-US" dirty="0"/>
              <a:t> </a:t>
            </a:r>
            <a:r>
              <a:rPr lang="en-US" dirty="0" err="1"/>
              <a:t>hệ</a:t>
            </a:r>
            <a:r>
              <a:rPr lang="en-US" dirty="0"/>
              <a:t> </a:t>
            </a:r>
            <a:r>
              <a:rPr lang="en-US" dirty="0" err="1"/>
              <a:t>thống</a:t>
            </a:r>
            <a:r>
              <a:rPr lang="en-US" dirty="0"/>
              <a:t> </a:t>
            </a:r>
            <a:r>
              <a:rPr lang="en-US" dirty="0" err="1"/>
              <a:t>ngân</a:t>
            </a:r>
            <a:r>
              <a:rPr lang="en-US" dirty="0"/>
              <a:t> </a:t>
            </a:r>
            <a:r>
              <a:rPr lang="en-US" dirty="0" err="1"/>
              <a:t>hàng</a:t>
            </a:r>
            <a:r>
              <a:rPr lang="en-US" dirty="0"/>
              <a:t>.</a:t>
            </a:r>
            <a:br>
              <a:rPr lang="en-US" dirty="0"/>
            </a:br>
            <a:endParaRPr lang="en-US" dirty="0"/>
          </a:p>
          <a:p>
            <a:r>
              <a:rPr lang="en-US" sz="1200" b="1" kern="1200" dirty="0">
                <a:solidFill>
                  <a:schemeClr val="tx1"/>
                </a:solidFill>
                <a:latin typeface="+mn-lt"/>
                <a:ea typeface="+mn-ea"/>
                <a:cs typeface="+mn-cs"/>
              </a:rPr>
              <a:t>&lt;&lt;business logic&gt;&gt; : </a:t>
            </a:r>
            <a:r>
              <a:rPr lang="en-US" sz="1200" b="1" kern="1200" dirty="0" err="1">
                <a:solidFill>
                  <a:schemeClr val="tx1"/>
                </a:solidFill>
                <a:latin typeface="+mn-lt"/>
                <a:ea typeface="+mn-ea"/>
                <a:cs typeface="+mn-cs"/>
              </a:rPr>
              <a:t>WithdrawalTransactionManager</a:t>
            </a:r>
            <a:endParaRPr lang="en-US" b="1" dirty="0"/>
          </a:p>
          <a:p>
            <a:r>
              <a:rPr lang="en-US" dirty="0" err="1"/>
              <a:t>Đây</a:t>
            </a:r>
            <a:r>
              <a:rPr lang="en-US" dirty="0"/>
              <a:t> </a:t>
            </a:r>
            <a:r>
              <a:rPr lang="en-US" dirty="0" err="1"/>
              <a:t>là</a:t>
            </a:r>
            <a:r>
              <a:rPr lang="en-US" dirty="0"/>
              <a:t> object </a:t>
            </a:r>
            <a:r>
              <a:rPr lang="en-US" dirty="0" err="1"/>
              <a:t>quan</a:t>
            </a:r>
            <a:r>
              <a:rPr lang="en-US" dirty="0"/>
              <a:t> </a:t>
            </a:r>
            <a:r>
              <a:rPr lang="en-US" dirty="0" err="1"/>
              <a:t>trọng</a:t>
            </a:r>
            <a:r>
              <a:rPr lang="en-US" dirty="0"/>
              <a:t> </a:t>
            </a:r>
            <a:r>
              <a:rPr lang="en-US" dirty="0" err="1"/>
              <a:t>nhất</a:t>
            </a:r>
            <a:r>
              <a:rPr lang="en-US" dirty="0"/>
              <a:t>.</a:t>
            </a:r>
          </a:p>
          <a:p>
            <a:r>
              <a:rPr lang="en-US" dirty="0" err="1"/>
              <a:t>Nó</a:t>
            </a:r>
            <a:r>
              <a:rPr lang="en-US" dirty="0"/>
              <a:t> </a:t>
            </a:r>
            <a:r>
              <a:rPr lang="en-US" dirty="0" err="1"/>
              <a:t>chứa</a:t>
            </a:r>
            <a:r>
              <a:rPr lang="en-US" dirty="0"/>
              <a:t> business logic </a:t>
            </a:r>
            <a:r>
              <a:rPr lang="en-US" dirty="0" err="1"/>
              <a:t>của</a:t>
            </a:r>
            <a:r>
              <a:rPr lang="en-US" dirty="0"/>
              <a:t> </a:t>
            </a:r>
            <a:r>
              <a:rPr lang="en-US" dirty="0" err="1"/>
              <a:t>nghiệp</a:t>
            </a:r>
            <a:r>
              <a:rPr lang="en-US" dirty="0"/>
              <a:t> </a:t>
            </a:r>
            <a:r>
              <a:rPr lang="en-US" dirty="0" err="1"/>
              <a:t>vụ</a:t>
            </a:r>
            <a:r>
              <a:rPr lang="en-US" dirty="0"/>
              <a:t> </a:t>
            </a:r>
            <a:r>
              <a:rPr lang="en-US" dirty="0" err="1"/>
              <a:t>rút</a:t>
            </a:r>
            <a:r>
              <a:rPr lang="en-US" dirty="0"/>
              <a:t> </a:t>
            </a:r>
            <a:r>
              <a:rPr lang="en-US" dirty="0" err="1"/>
              <a:t>tiền</a:t>
            </a:r>
            <a:r>
              <a:rPr lang="en-US" dirty="0"/>
              <a:t> </a:t>
            </a:r>
          </a:p>
          <a:p>
            <a:r>
              <a:rPr lang="en-US" dirty="0" err="1"/>
              <a:t>Ví</a:t>
            </a:r>
            <a:r>
              <a:rPr lang="en-US" dirty="0"/>
              <a:t> </a:t>
            </a:r>
            <a:r>
              <a:rPr lang="en-US" dirty="0" err="1"/>
              <a:t>dụ</a:t>
            </a:r>
            <a:r>
              <a:rPr lang="en-US" dirty="0"/>
              <a:t>: </a:t>
            </a:r>
            <a:r>
              <a:rPr lang="en-US" dirty="0" err="1"/>
              <a:t>kiểm</a:t>
            </a:r>
            <a:r>
              <a:rPr lang="en-US" dirty="0"/>
              <a:t> </a:t>
            </a:r>
            <a:r>
              <a:rPr lang="en-US" dirty="0" err="1"/>
              <a:t>tra</a:t>
            </a:r>
            <a:r>
              <a:rPr lang="en-US" dirty="0"/>
              <a:t> </a:t>
            </a:r>
            <a:r>
              <a:rPr lang="en-US" dirty="0" err="1"/>
              <a:t>hạn</a:t>
            </a:r>
            <a:r>
              <a:rPr lang="en-US" dirty="0"/>
              <a:t> </a:t>
            </a:r>
            <a:r>
              <a:rPr lang="en-US" dirty="0" err="1"/>
              <a:t>mức</a:t>
            </a:r>
            <a:r>
              <a:rPr lang="en-US" dirty="0"/>
              <a:t>, </a:t>
            </a:r>
            <a:r>
              <a:rPr lang="en-US" dirty="0" err="1"/>
              <a:t>trừ</a:t>
            </a:r>
            <a:r>
              <a:rPr lang="en-US" dirty="0"/>
              <a:t> </a:t>
            </a:r>
            <a:r>
              <a:rPr lang="en-US" dirty="0" err="1"/>
              <a:t>tiền</a:t>
            </a:r>
            <a:r>
              <a:rPr lang="en-US" dirty="0"/>
              <a:t>, </a:t>
            </a:r>
            <a:r>
              <a:rPr lang="en-US" dirty="0" err="1"/>
              <a:t>cập</a:t>
            </a:r>
            <a:r>
              <a:rPr lang="en-US" dirty="0"/>
              <a:t> </a:t>
            </a:r>
            <a:r>
              <a:rPr lang="en-US" dirty="0" err="1"/>
              <a:t>nhật</a:t>
            </a:r>
            <a:r>
              <a:rPr lang="en-US" dirty="0"/>
              <a:t> </a:t>
            </a:r>
            <a:r>
              <a:rPr lang="en-US" dirty="0" err="1"/>
              <a:t>giao</a:t>
            </a:r>
            <a:r>
              <a:rPr lang="en-US" dirty="0"/>
              <a:t> </a:t>
            </a:r>
            <a:r>
              <a:rPr lang="en-US" dirty="0" err="1"/>
              <a:t>dịch</a:t>
            </a:r>
            <a:r>
              <a:rPr lang="en-US" dirty="0"/>
              <a:t>, </a:t>
            </a:r>
            <a:r>
              <a:rPr lang="en-US" dirty="0" err="1"/>
              <a:t>ghi</a:t>
            </a:r>
            <a:r>
              <a:rPr lang="en-US" dirty="0"/>
              <a:t> log</a:t>
            </a:r>
          </a:p>
          <a:p>
            <a:r>
              <a:rPr lang="en-US" dirty="0" err="1"/>
              <a:t>Nó</a:t>
            </a:r>
            <a:r>
              <a:rPr lang="en-US" dirty="0"/>
              <a:t> </a:t>
            </a:r>
            <a:r>
              <a:rPr lang="en-US" dirty="0" err="1"/>
              <a:t>đóng</a:t>
            </a:r>
            <a:r>
              <a:rPr lang="en-US" dirty="0"/>
              <a:t> </a:t>
            </a:r>
            <a:r>
              <a:rPr lang="en-US" dirty="0" err="1"/>
              <a:t>vai</a:t>
            </a:r>
            <a:r>
              <a:rPr lang="en-US" dirty="0"/>
              <a:t> </a:t>
            </a:r>
            <a:r>
              <a:rPr lang="en-US" dirty="0" err="1"/>
              <a:t>trò</a:t>
            </a:r>
            <a:r>
              <a:rPr lang="en-US" dirty="0"/>
              <a:t> </a:t>
            </a:r>
            <a:r>
              <a:rPr lang="en-US" dirty="0" err="1"/>
              <a:t>trung</a:t>
            </a:r>
            <a:r>
              <a:rPr lang="en-US" dirty="0"/>
              <a:t> </a:t>
            </a:r>
            <a:r>
              <a:rPr lang="en-US" dirty="0" err="1"/>
              <a:t>gian</a:t>
            </a:r>
            <a:r>
              <a:rPr lang="en-US" dirty="0"/>
              <a:t> </a:t>
            </a:r>
            <a:r>
              <a:rPr lang="en-US" dirty="0" err="1"/>
              <a:t>giữa</a:t>
            </a:r>
            <a:r>
              <a:rPr lang="en-US" dirty="0"/>
              <a:t>:</a:t>
            </a:r>
          </a:p>
          <a:p>
            <a:r>
              <a:rPr lang="en-US" dirty="0"/>
              <a:t>- coordinator </a:t>
            </a:r>
          </a:p>
          <a:p>
            <a:r>
              <a:rPr lang="en-US" dirty="0"/>
              <a:t>- entity/data objects </a:t>
            </a:r>
            <a:br>
              <a:rPr lang="en-US" dirty="0"/>
            </a:br>
            <a:endParaRPr lang="en-US" dirty="0"/>
          </a:p>
          <a:p>
            <a:r>
              <a:rPr lang="en-US" sz="1200" b="1" kern="1200" dirty="0">
                <a:solidFill>
                  <a:schemeClr val="tx1"/>
                </a:solidFill>
                <a:latin typeface="+mn-lt"/>
                <a:ea typeface="+mn-ea"/>
                <a:cs typeface="+mn-cs"/>
              </a:rPr>
              <a:t>&lt;&lt;entity&gt;&gt; : Account</a:t>
            </a:r>
            <a:endParaRPr lang="en-US" b="1" dirty="0"/>
          </a:p>
          <a:p>
            <a:r>
              <a:rPr lang="en-US" dirty="0" err="1"/>
              <a:t>Đại</a:t>
            </a:r>
            <a:r>
              <a:rPr lang="en-US" dirty="0"/>
              <a:t> </a:t>
            </a:r>
            <a:r>
              <a:rPr lang="en-US" dirty="0" err="1"/>
              <a:t>diện</a:t>
            </a:r>
            <a:r>
              <a:rPr lang="en-US" dirty="0"/>
              <a:t> </a:t>
            </a:r>
            <a:r>
              <a:rPr lang="en-US" dirty="0" err="1"/>
              <a:t>dữ</a:t>
            </a:r>
            <a:r>
              <a:rPr lang="en-US" dirty="0"/>
              <a:t> </a:t>
            </a:r>
            <a:r>
              <a:rPr lang="en-US" dirty="0" err="1"/>
              <a:t>liệu</a:t>
            </a:r>
            <a:r>
              <a:rPr lang="en-US" dirty="0"/>
              <a:t> </a:t>
            </a:r>
            <a:r>
              <a:rPr lang="en-US" dirty="0" err="1"/>
              <a:t>tài</a:t>
            </a:r>
            <a:r>
              <a:rPr lang="en-US" dirty="0"/>
              <a:t> </a:t>
            </a:r>
            <a:r>
              <a:rPr lang="en-US" dirty="0" err="1"/>
              <a:t>khoản</a:t>
            </a:r>
            <a:r>
              <a:rPr lang="en-US" dirty="0"/>
              <a:t>.</a:t>
            </a:r>
          </a:p>
          <a:p>
            <a:r>
              <a:rPr lang="en-US" dirty="0" err="1"/>
              <a:t>Chứa</a:t>
            </a:r>
            <a:r>
              <a:rPr lang="en-US" dirty="0"/>
              <a:t> </a:t>
            </a:r>
            <a:r>
              <a:rPr lang="en-US" dirty="0" err="1"/>
              <a:t>số</a:t>
            </a:r>
            <a:r>
              <a:rPr lang="en-US" dirty="0"/>
              <a:t> </a:t>
            </a:r>
            <a:r>
              <a:rPr lang="en-US" dirty="0" err="1"/>
              <a:t>dư</a:t>
            </a:r>
            <a:r>
              <a:rPr lang="en-US" dirty="0"/>
              <a:t>, </a:t>
            </a:r>
            <a:r>
              <a:rPr lang="en-US" dirty="0" err="1"/>
              <a:t>thông</a:t>
            </a:r>
            <a:r>
              <a:rPr lang="en-US" dirty="0"/>
              <a:t> tin account</a:t>
            </a:r>
          </a:p>
          <a:p>
            <a:r>
              <a:rPr lang="en-US" dirty="0" err="1"/>
              <a:t>Nó</a:t>
            </a:r>
            <a:r>
              <a:rPr lang="en-US" dirty="0"/>
              <a:t> </a:t>
            </a:r>
            <a:r>
              <a:rPr lang="en-US" dirty="0" err="1"/>
              <a:t>xử</a:t>
            </a:r>
            <a:r>
              <a:rPr lang="en-US" dirty="0"/>
              <a:t> </a:t>
            </a:r>
            <a:r>
              <a:rPr lang="en-US" dirty="0" err="1"/>
              <a:t>lý</a:t>
            </a:r>
            <a:r>
              <a:rPr lang="en-US" dirty="0"/>
              <a:t> debit </a:t>
            </a:r>
            <a:r>
              <a:rPr lang="en-US" dirty="0" err="1"/>
              <a:t>tiền</a:t>
            </a:r>
            <a:r>
              <a:rPr lang="en-US" dirty="0"/>
              <a:t>, </a:t>
            </a:r>
            <a:r>
              <a:rPr lang="en-US" dirty="0" err="1"/>
              <a:t>trả</a:t>
            </a:r>
            <a:r>
              <a:rPr lang="en-US" dirty="0"/>
              <a:t> balance </a:t>
            </a:r>
            <a:br>
              <a:rPr lang="en-US" dirty="0"/>
            </a:br>
            <a:endParaRPr lang="en-US" dirty="0"/>
          </a:p>
          <a:p>
            <a:r>
              <a:rPr lang="en-US" sz="1200" b="1" kern="1200" dirty="0">
                <a:solidFill>
                  <a:schemeClr val="tx1"/>
                </a:solidFill>
                <a:latin typeface="+mn-lt"/>
                <a:ea typeface="+mn-ea"/>
                <a:cs typeface="+mn-cs"/>
              </a:rPr>
              <a:t>&lt;&lt;entity&gt;&gt; : </a:t>
            </a:r>
            <a:r>
              <a:rPr lang="en-US" sz="1200" b="1" kern="1200" dirty="0" err="1">
                <a:solidFill>
                  <a:schemeClr val="tx1"/>
                </a:solidFill>
                <a:latin typeface="+mn-lt"/>
                <a:ea typeface="+mn-ea"/>
                <a:cs typeface="+mn-cs"/>
              </a:rPr>
              <a:t>DebitCard</a:t>
            </a:r>
            <a:endParaRPr lang="en-US" b="1" dirty="0"/>
          </a:p>
          <a:p>
            <a:r>
              <a:rPr lang="en-US" dirty="0" err="1"/>
              <a:t>Đại</a:t>
            </a:r>
            <a:r>
              <a:rPr lang="en-US" dirty="0"/>
              <a:t> </a:t>
            </a:r>
            <a:r>
              <a:rPr lang="en-US" dirty="0" err="1"/>
              <a:t>diện</a:t>
            </a:r>
            <a:r>
              <a:rPr lang="en-US" dirty="0"/>
              <a:t> </a:t>
            </a:r>
            <a:r>
              <a:rPr lang="en-US" dirty="0" err="1"/>
              <a:t>thẻ</a:t>
            </a:r>
            <a:r>
              <a:rPr lang="en-US" dirty="0"/>
              <a:t> ATM/debit card.</a:t>
            </a:r>
          </a:p>
          <a:p>
            <a:r>
              <a:rPr lang="en-US" dirty="0" err="1"/>
              <a:t>Nó</a:t>
            </a:r>
            <a:r>
              <a:rPr lang="en-US" dirty="0"/>
              <a:t> </a:t>
            </a:r>
            <a:r>
              <a:rPr lang="en-US" dirty="0" err="1"/>
              <a:t>dùng</a:t>
            </a:r>
            <a:r>
              <a:rPr lang="en-US" dirty="0"/>
              <a:t> </a:t>
            </a:r>
            <a:r>
              <a:rPr lang="en-US" dirty="0" err="1"/>
              <a:t>để</a:t>
            </a:r>
            <a:r>
              <a:rPr lang="en-US" dirty="0"/>
              <a:t> </a:t>
            </a:r>
            <a:r>
              <a:rPr lang="en-US" dirty="0" err="1"/>
              <a:t>kiểm</a:t>
            </a:r>
            <a:r>
              <a:rPr lang="en-US" dirty="0"/>
              <a:t> </a:t>
            </a:r>
            <a:r>
              <a:rPr lang="en-US" dirty="0" err="1"/>
              <a:t>tra</a:t>
            </a:r>
            <a:r>
              <a:rPr lang="en-US" dirty="0"/>
              <a:t> daily limit, </a:t>
            </a:r>
            <a:r>
              <a:rPr lang="en-US" dirty="0" err="1"/>
              <a:t>cập</a:t>
            </a:r>
            <a:r>
              <a:rPr lang="en-US" dirty="0"/>
              <a:t> </a:t>
            </a:r>
            <a:r>
              <a:rPr lang="en-US" dirty="0" err="1"/>
              <a:t>nhật</a:t>
            </a:r>
            <a:r>
              <a:rPr lang="en-US" dirty="0"/>
              <a:t> </a:t>
            </a:r>
            <a:r>
              <a:rPr lang="en-US" dirty="0" err="1"/>
              <a:t>tổng</a:t>
            </a:r>
            <a:r>
              <a:rPr lang="en-US" dirty="0"/>
              <a:t> </a:t>
            </a:r>
            <a:r>
              <a:rPr lang="en-US" dirty="0" err="1"/>
              <a:t>tiền</a:t>
            </a:r>
            <a:r>
              <a:rPr lang="en-US" dirty="0"/>
              <a:t> </a:t>
            </a:r>
            <a:r>
              <a:rPr lang="en-US" dirty="0" err="1"/>
              <a:t>rút</a:t>
            </a:r>
            <a:r>
              <a:rPr lang="en-US" dirty="0"/>
              <a:t> </a:t>
            </a:r>
            <a:r>
              <a:rPr lang="en-US" dirty="0" err="1"/>
              <a:t>trong</a:t>
            </a:r>
            <a:r>
              <a:rPr lang="en-US" dirty="0"/>
              <a:t> </a:t>
            </a:r>
            <a:r>
              <a:rPr lang="en-US" dirty="0" err="1"/>
              <a:t>ngày</a:t>
            </a:r>
            <a:r>
              <a:rPr lang="en-US" dirty="0"/>
              <a:t> </a:t>
            </a:r>
          </a:p>
          <a:p>
            <a:endParaRPr lang="en-US" dirty="0"/>
          </a:p>
          <a:p>
            <a:r>
              <a:rPr lang="en-US" sz="1200" b="1" kern="1200" dirty="0">
                <a:solidFill>
                  <a:schemeClr val="tx1"/>
                </a:solidFill>
                <a:latin typeface="+mn-lt"/>
                <a:ea typeface="+mn-ea"/>
                <a:cs typeface="+mn-cs"/>
              </a:rPr>
              <a:t>&lt;&lt;entity&gt;&gt; : </a:t>
            </a:r>
            <a:r>
              <a:rPr lang="en-US" sz="1200" b="1" kern="1200" dirty="0" err="1">
                <a:solidFill>
                  <a:schemeClr val="tx1"/>
                </a:solidFill>
                <a:latin typeface="+mn-lt"/>
                <a:ea typeface="+mn-ea"/>
                <a:cs typeface="+mn-cs"/>
              </a:rPr>
              <a:t>TransactionLog</a:t>
            </a:r>
            <a:endParaRPr lang="en-US" b="1" dirty="0"/>
          </a:p>
          <a:p>
            <a:r>
              <a:rPr lang="en-US" dirty="0"/>
              <a:t>Object </a:t>
            </a:r>
            <a:r>
              <a:rPr lang="en-US" dirty="0" err="1"/>
              <a:t>lưu</a:t>
            </a:r>
            <a:r>
              <a:rPr lang="en-US" dirty="0"/>
              <a:t> log </a:t>
            </a:r>
            <a:r>
              <a:rPr lang="en-US" dirty="0" err="1"/>
              <a:t>giao</a:t>
            </a:r>
            <a:r>
              <a:rPr lang="en-US" dirty="0"/>
              <a:t> </a:t>
            </a:r>
            <a:r>
              <a:rPr lang="en-US" dirty="0" err="1"/>
              <a:t>dịch</a:t>
            </a:r>
            <a:r>
              <a:rPr lang="en-US" dirty="0"/>
              <a:t>.</a:t>
            </a:r>
          </a:p>
          <a:p>
            <a:endParaRPr lang="en-US" dirty="0"/>
          </a:p>
          <a:p>
            <a:r>
              <a:rPr lang="en-US" b="1" dirty="0"/>
              <a:t>2. </a:t>
            </a:r>
            <a:r>
              <a:rPr lang="en-US" b="1" dirty="0" err="1"/>
              <a:t>Luồng</a:t>
            </a:r>
            <a:r>
              <a:rPr lang="en-US" b="1" dirty="0"/>
              <a:t> </a:t>
            </a:r>
            <a:r>
              <a:rPr lang="en-US" b="1" dirty="0" err="1"/>
              <a:t>xử</a:t>
            </a:r>
            <a:r>
              <a:rPr lang="en-US" b="1" dirty="0"/>
              <a:t> </a:t>
            </a:r>
            <a:r>
              <a:rPr lang="en-US" b="1" dirty="0" err="1"/>
              <a:t>lý</a:t>
            </a:r>
            <a:r>
              <a:rPr lang="en-US" b="1" dirty="0"/>
              <a:t> </a:t>
            </a:r>
            <a:r>
              <a:rPr lang="en-US" b="1" dirty="0" err="1"/>
              <a:t>trong</a:t>
            </a:r>
            <a:r>
              <a:rPr lang="en-US" b="1" dirty="0"/>
              <a:t> </a:t>
            </a:r>
            <a:r>
              <a:rPr lang="en-US" b="1" dirty="0" err="1"/>
              <a:t>hình</a:t>
            </a:r>
            <a:endParaRPr lang="en-US" b="1" dirty="0"/>
          </a:p>
          <a:p>
            <a:r>
              <a:rPr lang="en-US" b="1" dirty="0" err="1"/>
              <a:t>Bước</a:t>
            </a:r>
            <a:r>
              <a:rPr lang="en-US" b="1" dirty="0"/>
              <a:t> 1</a:t>
            </a:r>
          </a:p>
          <a:p>
            <a:r>
              <a:rPr lang="en-US" sz="1200" kern="1200" dirty="0" err="1">
                <a:solidFill>
                  <a:schemeClr val="tx1"/>
                </a:solidFill>
                <a:latin typeface="+mn-lt"/>
                <a:ea typeface="+mn-ea"/>
                <a:cs typeface="+mn-cs"/>
              </a:rPr>
              <a:t>BankCoordinator</a:t>
            </a:r>
            <a:br>
              <a:rPr lang="en-US" dirty="0"/>
            </a:br>
            <a:r>
              <a:rPr lang="en-US" dirty="0"/>
              <a:t>→ </a:t>
            </a:r>
            <a:r>
              <a:rPr lang="en-US" sz="1200" kern="1200" dirty="0" err="1">
                <a:solidFill>
                  <a:schemeClr val="tx1"/>
                </a:solidFill>
                <a:latin typeface="+mn-lt"/>
                <a:ea typeface="+mn-ea"/>
                <a:cs typeface="+mn-cs"/>
              </a:rPr>
              <a:t>WithdrawalTransactionManager</a:t>
            </a:r>
            <a:endParaRPr lang="en-US" dirty="0"/>
          </a:p>
          <a:p>
            <a:pPr rtl="0"/>
            <a:r>
              <a:rPr lang="en-US" sz="1200" kern="1200" dirty="0">
                <a:solidFill>
                  <a:schemeClr val="tx1"/>
                </a:solidFill>
                <a:latin typeface="+mn-lt"/>
                <a:ea typeface="+mn-ea"/>
                <a:cs typeface="+mn-cs"/>
              </a:rPr>
              <a:t>Withdrawal Request(Card Id, Account#, Amount)</a:t>
            </a:r>
          </a:p>
          <a:p>
            <a:r>
              <a:rPr lang="en-US" dirty="0" err="1"/>
              <a:t>Người</a:t>
            </a:r>
            <a:r>
              <a:rPr lang="en-US" dirty="0"/>
              <a:t> </a:t>
            </a:r>
            <a:r>
              <a:rPr lang="en-US" dirty="0" err="1"/>
              <a:t>dùng</a:t>
            </a:r>
            <a:r>
              <a:rPr lang="en-US" dirty="0"/>
              <a:t> </a:t>
            </a:r>
            <a:r>
              <a:rPr lang="en-US" dirty="0" err="1"/>
              <a:t>yêu</a:t>
            </a:r>
            <a:r>
              <a:rPr lang="en-US" dirty="0"/>
              <a:t> </a:t>
            </a:r>
            <a:r>
              <a:rPr lang="en-US" dirty="0" err="1"/>
              <a:t>cầu</a:t>
            </a:r>
            <a:r>
              <a:rPr lang="en-US" dirty="0"/>
              <a:t> </a:t>
            </a:r>
            <a:r>
              <a:rPr lang="en-US" dirty="0" err="1"/>
              <a:t>rút</a:t>
            </a:r>
            <a:r>
              <a:rPr lang="en-US" dirty="0"/>
              <a:t> </a:t>
            </a:r>
            <a:r>
              <a:rPr lang="en-US" dirty="0" err="1"/>
              <a:t>tiền</a:t>
            </a:r>
            <a:r>
              <a:rPr lang="en-US" dirty="0"/>
              <a:t>.</a:t>
            </a:r>
          </a:p>
          <a:p>
            <a:r>
              <a:rPr lang="en-US" dirty="0" err="1"/>
              <a:t>Gửi</a:t>
            </a:r>
            <a:r>
              <a:rPr lang="en-US" dirty="0"/>
              <a:t>:</a:t>
            </a:r>
          </a:p>
          <a:p>
            <a:r>
              <a:rPr lang="en-US" dirty="0" err="1"/>
              <a:t>mã</a:t>
            </a:r>
            <a:r>
              <a:rPr lang="en-US" dirty="0"/>
              <a:t> </a:t>
            </a:r>
            <a:r>
              <a:rPr lang="en-US" dirty="0" err="1"/>
              <a:t>thẻ</a:t>
            </a:r>
            <a:r>
              <a:rPr lang="en-US" dirty="0"/>
              <a:t> </a:t>
            </a:r>
          </a:p>
          <a:p>
            <a:r>
              <a:rPr lang="en-US" dirty="0" err="1"/>
              <a:t>số</a:t>
            </a:r>
            <a:r>
              <a:rPr lang="en-US" dirty="0"/>
              <a:t> </a:t>
            </a:r>
            <a:r>
              <a:rPr lang="en-US" dirty="0" err="1"/>
              <a:t>tài</a:t>
            </a:r>
            <a:r>
              <a:rPr lang="en-US" dirty="0"/>
              <a:t> </a:t>
            </a:r>
            <a:r>
              <a:rPr lang="en-US" dirty="0" err="1"/>
              <a:t>khoản</a:t>
            </a:r>
            <a:r>
              <a:rPr lang="en-US" dirty="0"/>
              <a:t> </a:t>
            </a:r>
          </a:p>
          <a:p>
            <a:r>
              <a:rPr lang="en-US" dirty="0" err="1"/>
              <a:t>số</a:t>
            </a:r>
            <a:r>
              <a:rPr lang="en-US" dirty="0"/>
              <a:t> </a:t>
            </a:r>
            <a:r>
              <a:rPr lang="en-US" dirty="0" err="1"/>
              <a:t>tiền</a:t>
            </a:r>
            <a:r>
              <a:rPr lang="en-US" dirty="0"/>
              <a:t> </a:t>
            </a:r>
            <a:r>
              <a:rPr lang="en-US" dirty="0" err="1"/>
              <a:t>cần</a:t>
            </a:r>
            <a:r>
              <a:rPr lang="en-US" dirty="0"/>
              <a:t> </a:t>
            </a:r>
            <a:r>
              <a:rPr lang="en-US" dirty="0" err="1"/>
              <a:t>rút</a:t>
            </a:r>
            <a:r>
              <a:rPr lang="en-US" dirty="0"/>
              <a:t> </a:t>
            </a:r>
          </a:p>
          <a:p>
            <a:endParaRPr lang="en-US" dirty="0"/>
          </a:p>
          <a:p>
            <a:r>
              <a:rPr lang="en-US" b="1" dirty="0" err="1"/>
              <a:t>Bước</a:t>
            </a:r>
            <a:r>
              <a:rPr lang="en-US" b="1" dirty="0"/>
              <a:t> 2</a:t>
            </a:r>
          </a:p>
          <a:p>
            <a:r>
              <a:rPr lang="en-US" sz="1200" kern="1200" dirty="0" err="1">
                <a:solidFill>
                  <a:schemeClr val="tx1"/>
                </a:solidFill>
                <a:latin typeface="+mn-lt"/>
                <a:ea typeface="+mn-ea"/>
                <a:cs typeface="+mn-cs"/>
              </a:rPr>
              <a:t>WithdrawalTransactionManager</a:t>
            </a:r>
            <a:br>
              <a:rPr lang="en-US" dirty="0"/>
            </a:br>
            <a:r>
              <a:rPr lang="en-US" dirty="0"/>
              <a:t>→ </a:t>
            </a:r>
            <a:r>
              <a:rPr lang="en-US" sz="1200" kern="1200" dirty="0" err="1">
                <a:solidFill>
                  <a:schemeClr val="tx1"/>
                </a:solidFill>
                <a:latin typeface="+mn-lt"/>
                <a:ea typeface="+mn-ea"/>
                <a:cs typeface="+mn-cs"/>
              </a:rPr>
              <a:t>DebitCard</a:t>
            </a:r>
            <a:endParaRPr lang="en-US" dirty="0"/>
          </a:p>
          <a:p>
            <a:pPr rtl="0"/>
            <a:r>
              <a:rPr lang="en-US" sz="1200" kern="1200" dirty="0">
                <a:solidFill>
                  <a:schemeClr val="tx1"/>
                </a:solidFill>
                <a:latin typeface="+mn-lt"/>
                <a:ea typeface="+mn-ea"/>
                <a:cs typeface="+mn-cs"/>
              </a:rPr>
              <a:t>Check Daily Limit(Card Id, Amount)</a:t>
            </a:r>
          </a:p>
          <a:p>
            <a:r>
              <a:rPr lang="en-US" dirty="0" err="1"/>
              <a:t>Kiểm</a:t>
            </a:r>
            <a:r>
              <a:rPr lang="en-US" dirty="0"/>
              <a:t> </a:t>
            </a:r>
            <a:r>
              <a:rPr lang="en-US" dirty="0" err="1"/>
              <a:t>tra</a:t>
            </a:r>
            <a:r>
              <a:rPr lang="en-US" dirty="0"/>
              <a:t>:</a:t>
            </a:r>
          </a:p>
          <a:p>
            <a:r>
              <a:rPr lang="en-US" dirty="0" err="1"/>
              <a:t>hôm</a:t>
            </a:r>
            <a:r>
              <a:rPr lang="en-US" dirty="0"/>
              <a:t> nay </a:t>
            </a:r>
            <a:r>
              <a:rPr lang="en-US" dirty="0" err="1"/>
              <a:t>đã</a:t>
            </a:r>
            <a:r>
              <a:rPr lang="en-US" dirty="0"/>
              <a:t> </a:t>
            </a:r>
            <a:r>
              <a:rPr lang="en-US" dirty="0" err="1"/>
              <a:t>rút</a:t>
            </a:r>
            <a:r>
              <a:rPr lang="en-US" dirty="0"/>
              <a:t> </a:t>
            </a:r>
            <a:r>
              <a:rPr lang="en-US" dirty="0" err="1"/>
              <a:t>quá</a:t>
            </a:r>
            <a:r>
              <a:rPr lang="en-US" dirty="0"/>
              <a:t> </a:t>
            </a:r>
            <a:r>
              <a:rPr lang="en-US" dirty="0" err="1"/>
              <a:t>hạn</a:t>
            </a:r>
            <a:r>
              <a:rPr lang="en-US" dirty="0"/>
              <a:t> </a:t>
            </a:r>
            <a:r>
              <a:rPr lang="en-US" dirty="0" err="1"/>
              <a:t>mức</a:t>
            </a:r>
            <a:r>
              <a:rPr lang="en-US" dirty="0"/>
              <a:t> </a:t>
            </a:r>
            <a:r>
              <a:rPr lang="en-US" dirty="0" err="1"/>
              <a:t>chưa</a:t>
            </a:r>
            <a:r>
              <a:rPr lang="en-US" dirty="0"/>
              <a:t> </a:t>
            </a:r>
            <a:br>
              <a:rPr lang="en-US" dirty="0"/>
            </a:br>
            <a:endParaRPr lang="en-US" dirty="0"/>
          </a:p>
          <a:p>
            <a:r>
              <a:rPr lang="en-US" b="1" dirty="0" err="1"/>
              <a:t>Bước</a:t>
            </a:r>
            <a:r>
              <a:rPr lang="en-US" b="1" dirty="0"/>
              <a:t> 3</a:t>
            </a:r>
          </a:p>
          <a:p>
            <a:r>
              <a:rPr lang="en-US" sz="1200" kern="1200" dirty="0" err="1">
                <a:solidFill>
                  <a:schemeClr val="tx1"/>
                </a:solidFill>
                <a:latin typeface="+mn-lt"/>
                <a:ea typeface="+mn-ea"/>
                <a:cs typeface="+mn-cs"/>
              </a:rPr>
              <a:t>DebitCard</a:t>
            </a:r>
            <a:br>
              <a:rPr lang="en-US" dirty="0"/>
            </a:br>
            <a:r>
              <a:rPr lang="en-US" dirty="0"/>
              <a:t>→ </a:t>
            </a:r>
            <a:r>
              <a:rPr lang="en-US" sz="1200" kern="1200" dirty="0" err="1">
                <a:solidFill>
                  <a:schemeClr val="tx1"/>
                </a:solidFill>
                <a:latin typeface="+mn-lt"/>
                <a:ea typeface="+mn-ea"/>
                <a:cs typeface="+mn-cs"/>
              </a:rPr>
              <a:t>WithdrawalTransactionManager</a:t>
            </a:r>
            <a:endParaRPr lang="en-US" dirty="0"/>
          </a:p>
          <a:p>
            <a:pPr rtl="0"/>
            <a:r>
              <a:rPr lang="en-US" sz="1200" kern="1200" dirty="0">
                <a:solidFill>
                  <a:schemeClr val="tx1"/>
                </a:solidFill>
                <a:latin typeface="+mn-lt"/>
                <a:ea typeface="+mn-ea"/>
                <a:cs typeface="+mn-cs"/>
              </a:rPr>
              <a:t>Daily Limit Response</a:t>
            </a:r>
          </a:p>
          <a:p>
            <a:r>
              <a:rPr lang="en-US" dirty="0" err="1"/>
              <a:t>Trả</a:t>
            </a:r>
            <a:r>
              <a:rPr lang="en-US" dirty="0"/>
              <a:t> </a:t>
            </a:r>
            <a:r>
              <a:rPr lang="en-US" dirty="0" err="1"/>
              <a:t>kết</a:t>
            </a:r>
            <a:r>
              <a:rPr lang="en-US" dirty="0"/>
              <a:t> </a:t>
            </a:r>
            <a:r>
              <a:rPr lang="en-US" dirty="0" err="1"/>
              <a:t>quả</a:t>
            </a:r>
            <a:r>
              <a:rPr lang="en-US" dirty="0"/>
              <a:t>:</a:t>
            </a:r>
          </a:p>
          <a:p>
            <a:r>
              <a:rPr lang="en-US" dirty="0" err="1"/>
              <a:t>được</a:t>
            </a:r>
            <a:r>
              <a:rPr lang="en-US" dirty="0"/>
              <a:t> </a:t>
            </a:r>
            <a:r>
              <a:rPr lang="en-US" dirty="0" err="1"/>
              <a:t>phép</a:t>
            </a:r>
            <a:r>
              <a:rPr lang="en-US" dirty="0"/>
              <a:t> hay </a:t>
            </a:r>
            <a:r>
              <a:rPr lang="en-US" dirty="0" err="1"/>
              <a:t>không</a:t>
            </a:r>
            <a:r>
              <a:rPr lang="en-US" dirty="0"/>
              <a:t> </a:t>
            </a:r>
          </a:p>
          <a:p>
            <a:endParaRPr lang="en-US" dirty="0"/>
          </a:p>
          <a:p>
            <a:r>
              <a:rPr lang="en-US" b="1" dirty="0" err="1"/>
              <a:t>Bước</a:t>
            </a:r>
            <a:r>
              <a:rPr lang="en-US" b="1" dirty="0"/>
              <a:t> 4</a:t>
            </a:r>
          </a:p>
          <a:p>
            <a:r>
              <a:rPr lang="en-US" sz="1200" kern="1200" dirty="0" err="1">
                <a:solidFill>
                  <a:schemeClr val="tx1"/>
                </a:solidFill>
                <a:latin typeface="+mn-lt"/>
                <a:ea typeface="+mn-ea"/>
                <a:cs typeface="+mn-cs"/>
              </a:rPr>
              <a:t>WithdrawalTransactionManager</a:t>
            </a:r>
            <a:br>
              <a:rPr lang="en-US" dirty="0"/>
            </a:br>
            <a:r>
              <a:rPr lang="en-US" dirty="0"/>
              <a:t>→ </a:t>
            </a:r>
            <a:r>
              <a:rPr lang="en-US" sz="1200" kern="1200" dirty="0">
                <a:solidFill>
                  <a:schemeClr val="tx1"/>
                </a:solidFill>
                <a:latin typeface="+mn-lt"/>
                <a:ea typeface="+mn-ea"/>
                <a:cs typeface="+mn-cs"/>
              </a:rPr>
              <a:t>Account</a:t>
            </a:r>
            <a:endParaRPr lang="en-US" dirty="0"/>
          </a:p>
          <a:p>
            <a:pPr rtl="0"/>
            <a:r>
              <a:rPr lang="en-US" sz="1200" kern="1200" dirty="0">
                <a:solidFill>
                  <a:schemeClr val="tx1"/>
                </a:solidFill>
                <a:latin typeface="+mn-lt"/>
                <a:ea typeface="+mn-ea"/>
                <a:cs typeface="+mn-cs"/>
              </a:rPr>
              <a:t>Debit(Account#, Amount)</a:t>
            </a:r>
          </a:p>
          <a:p>
            <a:r>
              <a:rPr lang="en-US" dirty="0" err="1"/>
              <a:t>Nếu</a:t>
            </a:r>
            <a:r>
              <a:rPr lang="en-US" dirty="0"/>
              <a:t> </a:t>
            </a:r>
            <a:r>
              <a:rPr lang="en-US" dirty="0" err="1"/>
              <a:t>hợp</a:t>
            </a:r>
            <a:r>
              <a:rPr lang="en-US" dirty="0"/>
              <a:t> </a:t>
            </a:r>
            <a:r>
              <a:rPr lang="en-US" dirty="0" err="1"/>
              <a:t>lệ</a:t>
            </a:r>
            <a:r>
              <a:rPr lang="en-US" dirty="0"/>
              <a:t>:</a:t>
            </a:r>
          </a:p>
          <a:p>
            <a:r>
              <a:rPr lang="en-US" dirty="0" err="1"/>
              <a:t>trừ</a:t>
            </a:r>
            <a:r>
              <a:rPr lang="en-US" dirty="0"/>
              <a:t> </a:t>
            </a:r>
            <a:r>
              <a:rPr lang="en-US" dirty="0" err="1"/>
              <a:t>tiền</a:t>
            </a:r>
            <a:r>
              <a:rPr lang="en-US" dirty="0"/>
              <a:t> </a:t>
            </a:r>
            <a:r>
              <a:rPr lang="en-US" dirty="0" err="1"/>
              <a:t>khỏi</a:t>
            </a:r>
            <a:r>
              <a:rPr lang="en-US" dirty="0"/>
              <a:t> </a:t>
            </a:r>
            <a:r>
              <a:rPr lang="en-US" dirty="0" err="1"/>
              <a:t>tài</a:t>
            </a:r>
            <a:r>
              <a:rPr lang="en-US" dirty="0"/>
              <a:t> </a:t>
            </a:r>
            <a:r>
              <a:rPr lang="en-US" dirty="0" err="1"/>
              <a:t>khoản</a:t>
            </a:r>
            <a:r>
              <a:rPr lang="en-US" dirty="0"/>
              <a:t> </a:t>
            </a:r>
            <a:br>
              <a:rPr lang="en-US" dirty="0"/>
            </a:br>
            <a:endParaRPr lang="en-US" dirty="0"/>
          </a:p>
          <a:p>
            <a:r>
              <a:rPr lang="en-US" b="1" dirty="0" err="1"/>
              <a:t>Bước</a:t>
            </a:r>
            <a:r>
              <a:rPr lang="en-US" b="1" dirty="0"/>
              <a:t> 5</a:t>
            </a:r>
          </a:p>
          <a:p>
            <a:r>
              <a:rPr lang="en-US" sz="1200" kern="1200" dirty="0">
                <a:solidFill>
                  <a:schemeClr val="tx1"/>
                </a:solidFill>
                <a:latin typeface="+mn-lt"/>
                <a:ea typeface="+mn-ea"/>
                <a:cs typeface="+mn-cs"/>
              </a:rPr>
              <a:t>Account</a:t>
            </a:r>
            <a:br>
              <a:rPr lang="en-US" dirty="0"/>
            </a:br>
            <a:r>
              <a:rPr lang="en-US" dirty="0"/>
              <a:t>→ </a:t>
            </a:r>
            <a:r>
              <a:rPr lang="en-US" sz="1200" kern="1200" dirty="0" err="1">
                <a:solidFill>
                  <a:schemeClr val="tx1"/>
                </a:solidFill>
                <a:latin typeface="+mn-lt"/>
                <a:ea typeface="+mn-ea"/>
                <a:cs typeface="+mn-cs"/>
              </a:rPr>
              <a:t>WithdrawalTransactionManager</a:t>
            </a:r>
            <a:endParaRPr lang="en-US" dirty="0"/>
          </a:p>
          <a:p>
            <a:pPr rtl="0"/>
            <a:r>
              <a:rPr lang="en-US" sz="1200" kern="1200" dirty="0">
                <a:solidFill>
                  <a:schemeClr val="tx1"/>
                </a:solidFill>
                <a:latin typeface="+mn-lt"/>
                <a:ea typeface="+mn-ea"/>
                <a:cs typeface="+mn-cs"/>
              </a:rPr>
              <a:t>Balance</a:t>
            </a:r>
          </a:p>
          <a:p>
            <a:r>
              <a:rPr lang="en-US" dirty="0" err="1"/>
              <a:t>Trả</a:t>
            </a:r>
            <a:r>
              <a:rPr lang="en-US" dirty="0"/>
              <a:t> </a:t>
            </a:r>
            <a:r>
              <a:rPr lang="en-US" dirty="0" err="1"/>
              <a:t>số</a:t>
            </a:r>
            <a:r>
              <a:rPr lang="en-US" dirty="0"/>
              <a:t> </a:t>
            </a:r>
            <a:r>
              <a:rPr lang="en-US" dirty="0" err="1"/>
              <a:t>dư</a:t>
            </a:r>
            <a:r>
              <a:rPr lang="en-US" dirty="0"/>
              <a:t> </a:t>
            </a:r>
            <a:r>
              <a:rPr lang="en-US" dirty="0" err="1"/>
              <a:t>mới</a:t>
            </a:r>
            <a:r>
              <a:rPr lang="en-US" dirty="0"/>
              <a:t> </a:t>
            </a:r>
            <a:r>
              <a:rPr lang="en-US" dirty="0" err="1"/>
              <a:t>sau</a:t>
            </a:r>
            <a:r>
              <a:rPr lang="en-US" dirty="0"/>
              <a:t> </a:t>
            </a:r>
            <a:r>
              <a:rPr lang="en-US" dirty="0" err="1"/>
              <a:t>khi</a:t>
            </a:r>
            <a:r>
              <a:rPr lang="en-US" dirty="0"/>
              <a:t> </a:t>
            </a:r>
            <a:r>
              <a:rPr lang="en-US" dirty="0" err="1"/>
              <a:t>trừ</a:t>
            </a:r>
            <a:r>
              <a:rPr lang="en-US" dirty="0"/>
              <a:t>.</a:t>
            </a:r>
          </a:p>
          <a:p>
            <a:endParaRPr lang="en-US" dirty="0"/>
          </a:p>
          <a:p>
            <a:r>
              <a:rPr lang="en-US" b="1" dirty="0" err="1"/>
              <a:t>Bước</a:t>
            </a:r>
            <a:r>
              <a:rPr lang="en-US" b="1" dirty="0"/>
              <a:t> 6</a:t>
            </a:r>
          </a:p>
          <a:p>
            <a:r>
              <a:rPr lang="en-US" sz="1200" kern="1200" dirty="0" err="1">
                <a:solidFill>
                  <a:schemeClr val="tx1"/>
                </a:solidFill>
                <a:latin typeface="+mn-lt"/>
                <a:ea typeface="+mn-ea"/>
                <a:cs typeface="+mn-cs"/>
              </a:rPr>
              <a:t>WithdrawalTransactionManager</a:t>
            </a:r>
            <a:br>
              <a:rPr lang="en-US" dirty="0"/>
            </a:br>
            <a:r>
              <a:rPr lang="en-US" dirty="0"/>
              <a:t>→ </a:t>
            </a:r>
            <a:r>
              <a:rPr lang="en-US" sz="1200" kern="1200" dirty="0" err="1">
                <a:solidFill>
                  <a:schemeClr val="tx1"/>
                </a:solidFill>
                <a:latin typeface="+mn-lt"/>
                <a:ea typeface="+mn-ea"/>
                <a:cs typeface="+mn-cs"/>
              </a:rPr>
              <a:t>DebitCard</a:t>
            </a:r>
            <a:endParaRPr lang="en-US" dirty="0"/>
          </a:p>
          <a:p>
            <a:pPr rtl="0"/>
            <a:r>
              <a:rPr lang="en-US" sz="1200" kern="1200" dirty="0">
                <a:solidFill>
                  <a:schemeClr val="tx1"/>
                </a:solidFill>
                <a:latin typeface="+mn-lt"/>
                <a:ea typeface="+mn-ea"/>
                <a:cs typeface="+mn-cs"/>
              </a:rPr>
              <a:t>Update Daily Total(Card Id, Amount)</a:t>
            </a:r>
          </a:p>
          <a:p>
            <a:r>
              <a:rPr lang="en-US" dirty="0" err="1"/>
              <a:t>Cập</a:t>
            </a:r>
            <a:r>
              <a:rPr lang="en-US" dirty="0"/>
              <a:t> </a:t>
            </a:r>
            <a:r>
              <a:rPr lang="en-US" dirty="0" err="1"/>
              <a:t>nhật</a:t>
            </a:r>
            <a:r>
              <a:rPr lang="en-US" dirty="0"/>
              <a:t> </a:t>
            </a:r>
            <a:r>
              <a:rPr lang="en-US" dirty="0" err="1"/>
              <a:t>tổng</a:t>
            </a:r>
            <a:r>
              <a:rPr lang="en-US" dirty="0"/>
              <a:t> </a:t>
            </a:r>
            <a:r>
              <a:rPr lang="en-US" dirty="0" err="1"/>
              <a:t>số</a:t>
            </a:r>
            <a:r>
              <a:rPr lang="en-US" dirty="0"/>
              <a:t> </a:t>
            </a:r>
            <a:r>
              <a:rPr lang="en-US" dirty="0" err="1"/>
              <a:t>tiền</a:t>
            </a:r>
            <a:r>
              <a:rPr lang="en-US" dirty="0"/>
              <a:t> </a:t>
            </a:r>
            <a:r>
              <a:rPr lang="en-US" dirty="0" err="1"/>
              <a:t>đã</a:t>
            </a:r>
            <a:r>
              <a:rPr lang="en-US" dirty="0"/>
              <a:t> </a:t>
            </a:r>
            <a:r>
              <a:rPr lang="en-US" dirty="0" err="1"/>
              <a:t>rút</a:t>
            </a:r>
            <a:r>
              <a:rPr lang="en-US" dirty="0"/>
              <a:t> </a:t>
            </a:r>
            <a:r>
              <a:rPr lang="en-US" dirty="0" err="1"/>
              <a:t>hôm</a:t>
            </a:r>
            <a:r>
              <a:rPr lang="en-US" dirty="0"/>
              <a:t> nay.</a:t>
            </a:r>
            <a:br>
              <a:rPr lang="en-US" dirty="0"/>
            </a:br>
            <a:endParaRPr lang="en-US" dirty="0"/>
          </a:p>
          <a:p>
            <a:r>
              <a:rPr lang="en-US" b="1" dirty="0" err="1"/>
              <a:t>Bước</a:t>
            </a:r>
            <a:r>
              <a:rPr lang="en-US" b="1" dirty="0"/>
              <a:t> 7</a:t>
            </a:r>
          </a:p>
          <a:p>
            <a:r>
              <a:rPr lang="en-US" sz="1200" kern="1200" dirty="0" err="1">
                <a:solidFill>
                  <a:schemeClr val="tx1"/>
                </a:solidFill>
                <a:latin typeface="+mn-lt"/>
                <a:ea typeface="+mn-ea"/>
                <a:cs typeface="+mn-cs"/>
              </a:rPr>
              <a:t>WithdrawalTransactionManager</a:t>
            </a:r>
            <a:br>
              <a:rPr lang="en-US" dirty="0"/>
            </a:br>
            <a:r>
              <a:rPr lang="en-US" dirty="0"/>
              <a:t>→ </a:t>
            </a:r>
            <a:r>
              <a:rPr lang="en-US" sz="1200" kern="1200" dirty="0" err="1">
                <a:solidFill>
                  <a:schemeClr val="tx1"/>
                </a:solidFill>
                <a:latin typeface="+mn-lt"/>
                <a:ea typeface="+mn-ea"/>
                <a:cs typeface="+mn-cs"/>
              </a:rPr>
              <a:t>TransactionLog</a:t>
            </a:r>
            <a:endParaRPr lang="en-US" dirty="0"/>
          </a:p>
          <a:p>
            <a:pPr rtl="0"/>
            <a:r>
              <a:rPr lang="en-US" sz="1200" kern="1200" dirty="0">
                <a:solidFill>
                  <a:schemeClr val="tx1"/>
                </a:solidFill>
                <a:latin typeface="+mn-lt"/>
                <a:ea typeface="+mn-ea"/>
                <a:cs typeface="+mn-cs"/>
              </a:rPr>
              <a:t>Log Transaction</a:t>
            </a:r>
          </a:p>
          <a:p>
            <a:r>
              <a:rPr lang="en-US" dirty="0" err="1"/>
              <a:t>Ghi</a:t>
            </a:r>
            <a:r>
              <a:rPr lang="en-US" dirty="0"/>
              <a:t> log </a:t>
            </a:r>
            <a:r>
              <a:rPr lang="en-US" dirty="0" err="1"/>
              <a:t>giao</a:t>
            </a:r>
            <a:r>
              <a:rPr lang="en-US" dirty="0"/>
              <a:t> </a:t>
            </a:r>
            <a:r>
              <a:rPr lang="en-US" dirty="0" err="1"/>
              <a:t>dịch</a:t>
            </a:r>
            <a:r>
              <a:rPr lang="en-US" dirty="0"/>
              <a:t>.</a:t>
            </a:r>
          </a:p>
          <a:p>
            <a:endParaRPr lang="en-US" dirty="0"/>
          </a:p>
          <a:p>
            <a:r>
              <a:rPr lang="en-US" b="1" dirty="0" err="1"/>
              <a:t>Bước</a:t>
            </a:r>
            <a:r>
              <a:rPr lang="en-US" b="1" dirty="0"/>
              <a:t> 8</a:t>
            </a:r>
          </a:p>
          <a:p>
            <a:r>
              <a:rPr lang="en-US" sz="1200" kern="1200" dirty="0" err="1">
                <a:solidFill>
                  <a:schemeClr val="tx1"/>
                </a:solidFill>
                <a:latin typeface="+mn-lt"/>
                <a:ea typeface="+mn-ea"/>
                <a:cs typeface="+mn-cs"/>
              </a:rPr>
              <a:t>WithdrawalTransactionManager</a:t>
            </a:r>
            <a:br>
              <a:rPr lang="en-US" dirty="0"/>
            </a:br>
            <a:r>
              <a:rPr lang="en-US" dirty="0"/>
              <a:t>→ </a:t>
            </a:r>
            <a:r>
              <a:rPr lang="en-US" sz="1200" kern="1200" dirty="0" err="1">
                <a:solidFill>
                  <a:schemeClr val="tx1"/>
                </a:solidFill>
                <a:latin typeface="+mn-lt"/>
                <a:ea typeface="+mn-ea"/>
                <a:cs typeface="+mn-cs"/>
              </a:rPr>
              <a:t>BankCoordinator</a:t>
            </a:r>
            <a:endParaRPr lang="en-US" dirty="0"/>
          </a:p>
          <a:p>
            <a:pPr rtl="0"/>
            <a:r>
              <a:rPr lang="en-US" sz="1200" kern="1200" dirty="0">
                <a:solidFill>
                  <a:schemeClr val="tx1"/>
                </a:solidFill>
                <a:latin typeface="+mn-lt"/>
                <a:ea typeface="+mn-ea"/>
                <a:cs typeface="+mn-cs"/>
              </a:rPr>
              <a:t>Withdrawal Response(Amount, Balance)</a:t>
            </a:r>
          </a:p>
          <a:p>
            <a:r>
              <a:rPr lang="en-US" dirty="0" err="1"/>
              <a:t>Trả</a:t>
            </a:r>
            <a:r>
              <a:rPr lang="en-US" dirty="0"/>
              <a:t> </a:t>
            </a:r>
            <a:r>
              <a:rPr lang="en-US" dirty="0" err="1"/>
              <a:t>kết</a:t>
            </a:r>
            <a:r>
              <a:rPr lang="en-US" dirty="0"/>
              <a:t> </a:t>
            </a:r>
            <a:r>
              <a:rPr lang="en-US" dirty="0" err="1"/>
              <a:t>quả</a:t>
            </a:r>
            <a:r>
              <a:rPr lang="en-US" dirty="0"/>
              <a:t> </a:t>
            </a:r>
            <a:r>
              <a:rPr lang="en-US" dirty="0" err="1"/>
              <a:t>cuối</a:t>
            </a:r>
            <a:r>
              <a:rPr lang="en-US" dirty="0"/>
              <a:t> </a:t>
            </a:r>
            <a:r>
              <a:rPr lang="en-US" dirty="0" err="1"/>
              <a:t>cùng</a:t>
            </a:r>
            <a:r>
              <a:rPr lang="en-US" dirty="0"/>
              <a:t>:</a:t>
            </a:r>
          </a:p>
          <a:p>
            <a:r>
              <a:rPr lang="en-US" dirty="0" err="1"/>
              <a:t>số</a:t>
            </a:r>
            <a:r>
              <a:rPr lang="en-US" dirty="0"/>
              <a:t> </a:t>
            </a:r>
            <a:r>
              <a:rPr lang="en-US" dirty="0" err="1"/>
              <a:t>tiền</a:t>
            </a:r>
            <a:r>
              <a:rPr lang="en-US" dirty="0"/>
              <a:t> </a:t>
            </a:r>
            <a:r>
              <a:rPr lang="en-US" dirty="0" err="1"/>
              <a:t>rút</a:t>
            </a:r>
            <a:r>
              <a:rPr lang="en-US" dirty="0"/>
              <a:t> </a:t>
            </a:r>
          </a:p>
          <a:p>
            <a:r>
              <a:rPr lang="en-US" dirty="0" err="1"/>
              <a:t>số</a:t>
            </a:r>
            <a:r>
              <a:rPr lang="en-US" dirty="0"/>
              <a:t> </a:t>
            </a:r>
            <a:r>
              <a:rPr lang="en-US" dirty="0" err="1"/>
              <a:t>dư</a:t>
            </a:r>
            <a:r>
              <a:rPr lang="en-US" dirty="0"/>
              <a:t> </a:t>
            </a:r>
            <a:r>
              <a:rPr lang="en-US" dirty="0" err="1"/>
              <a:t>còn</a:t>
            </a:r>
            <a:r>
              <a:rPr lang="en-US" dirty="0"/>
              <a:t> </a:t>
            </a:r>
            <a:r>
              <a:rPr lang="en-US" dirty="0" err="1"/>
              <a:t>lại</a:t>
            </a:r>
            <a:endParaRPr lang="en-US" dirty="0"/>
          </a:p>
        </p:txBody>
      </p:sp>
      <p:sp>
        <p:nvSpPr>
          <p:cNvPr id="4" name="Slide Number Placeholder 3"/>
          <p:cNvSpPr>
            <a:spLocks noGrp="1"/>
          </p:cNvSpPr>
          <p:nvPr>
            <p:ph type="sldNum" sz="quarter" idx="5"/>
          </p:nvPr>
        </p:nvSpPr>
        <p:spPr/>
        <p:txBody>
          <a:bodyPr/>
          <a:lstStyle/>
          <a:p>
            <a:fld id="{CDAE0073-C388-4BBC-94F1-A3FD064D5EAA}" type="slidenum">
              <a:rPr lang="en-GB" smtClean="0"/>
              <a:t>13</a:t>
            </a:fld>
            <a:endParaRPr lang="en-GB"/>
          </a:p>
        </p:txBody>
      </p:sp>
    </p:spTree>
    <p:extLst>
      <p:ext uri="{BB962C8B-B14F-4D97-AF65-F5344CB8AC3E}">
        <p14:creationId xmlns:p14="http://schemas.microsoft.com/office/powerpoint/2010/main" val="4812484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85800" y="1700808"/>
            <a:ext cx="7772400" cy="794519"/>
          </a:xfrm>
        </p:spPr>
        <p:txBody>
          <a:bodyPr vert="horz" lIns="91440" tIns="45720" rIns="91440" bIns="45720" rtlCol="0" anchor="ctr">
            <a:noAutofit/>
          </a:bodyPr>
          <a:lstStyle>
            <a:lvl1pPr>
              <a:defRPr lang="en-GB" sz="4000" b="1" cap="all" baseline="0" dirty="0" smtClean="0">
                <a:solidFill>
                  <a:srgbClr val="DC0081"/>
                </a:solidFill>
              </a:defRPr>
            </a:lvl1pPr>
          </a:lstStyle>
          <a:p>
            <a:pPr marL="0" lvl="0" indent="0" fontAlgn="auto">
              <a:spcAft>
                <a:spcPts val="0"/>
              </a:spcAft>
            </a:pPr>
            <a:r>
              <a:rPr lang="en-US" dirty="0"/>
              <a:t>Click to edit Master style</a:t>
            </a:r>
            <a:endParaRPr lang="en-GB" dirty="0"/>
          </a:p>
        </p:txBody>
      </p:sp>
      <p:sp>
        <p:nvSpPr>
          <p:cNvPr id="3" name="Subtitle 2"/>
          <p:cNvSpPr>
            <a:spLocks noGrp="1"/>
          </p:cNvSpPr>
          <p:nvPr>
            <p:ph type="subTitle" idx="1"/>
          </p:nvPr>
        </p:nvSpPr>
        <p:spPr>
          <a:xfrm>
            <a:off x="683568" y="2495327"/>
            <a:ext cx="7776864" cy="622920"/>
          </a:xfrm>
        </p:spPr>
        <p:txBody>
          <a:bodyPr vert="horz" lIns="91440" tIns="45720" rIns="91440" bIns="45720" rtlCol="0">
            <a:normAutofit/>
          </a:bodyPr>
          <a:lstStyle>
            <a:lvl1pPr algn="ctr">
              <a:defRPr lang="en-GB" sz="3400" b="1" i="1" baseline="0" dirty="0" smtClean="0">
                <a:solidFill>
                  <a:srgbClr val="280099"/>
                </a:solidFill>
              </a:defRPr>
            </a:lvl1pPr>
          </a:lstStyle>
          <a:p>
            <a:pPr marL="0" lvl="0" indent="0" algn="ctr" fontAlgn="auto">
              <a:spcAft>
                <a:spcPts val="0"/>
              </a:spcAft>
              <a:buFont typeface="Wingdings" pitchFamily="2" charset="2"/>
              <a:buNone/>
            </a:pPr>
            <a:r>
              <a:rPr lang="en-US"/>
              <a:t>Click to edit Master subtitle style</a:t>
            </a:r>
            <a:endParaRPr lang="en-GB" dirty="0"/>
          </a:p>
        </p:txBody>
      </p:sp>
      <p:sp>
        <p:nvSpPr>
          <p:cNvPr id="4" name="Date Placeholder 3"/>
          <p:cNvSpPr>
            <a:spLocks noGrp="1"/>
          </p:cNvSpPr>
          <p:nvPr>
            <p:ph type="dt" sz="half" idx="10"/>
          </p:nvPr>
        </p:nvSpPr>
        <p:spPr/>
        <p:txBody>
          <a:bodyPr/>
          <a:lstStyle/>
          <a:p>
            <a:fld id="{220170DD-C861-476F-B7D8-5341A2B4ECC3}" type="datetimeFigureOut">
              <a:rPr lang="en-GB" smtClean="0"/>
              <a:t>01/06/2026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DF74D9D-2B93-4224-B077-96C9625F4AFD}" type="slidenum">
              <a:rPr lang="en-GB" smtClean="0"/>
              <a:t>‹#›</a:t>
            </a:fld>
            <a:endParaRPr lang="en-GB"/>
          </a:p>
        </p:txBody>
      </p:sp>
    </p:spTree>
    <p:extLst>
      <p:ext uri="{BB962C8B-B14F-4D97-AF65-F5344CB8AC3E}">
        <p14:creationId xmlns:p14="http://schemas.microsoft.com/office/powerpoint/2010/main" val="1550747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21822" y="0"/>
            <a:ext cx="6764977" cy="822722"/>
          </a:xfrm>
        </p:spPr>
        <p:txBody>
          <a:bodyPr vert="horz" lIns="91440" tIns="45720" rIns="91440" bIns="45720" rtlCol="0" anchor="ctr">
            <a:normAutofit/>
          </a:bodyPr>
          <a:lstStyle>
            <a:lvl1pPr algn="r">
              <a:defRPr lang="en-GB" sz="3600" b="1" kern="1200" dirty="0">
                <a:solidFill>
                  <a:srgbClr val="0070C0"/>
                </a:solidFill>
                <a:latin typeface="+mj-lt"/>
                <a:ea typeface="+mj-ea"/>
                <a:cs typeface="+mj-cs"/>
              </a:defRPr>
            </a:lvl1pPr>
          </a:lstStyle>
          <a:p>
            <a:pPr lvl="0" algn="r"/>
            <a:r>
              <a:rPr lang="en-US" dirty="0"/>
              <a:t>Click to edit Master title style</a:t>
            </a:r>
            <a:endParaRPr lang="en-GB" dirty="0"/>
          </a:p>
        </p:txBody>
      </p:sp>
      <p:sp>
        <p:nvSpPr>
          <p:cNvPr id="3" name="Content Placeholder 2"/>
          <p:cNvSpPr>
            <a:spLocks noGrp="1"/>
          </p:cNvSpPr>
          <p:nvPr>
            <p:ph idx="1"/>
          </p:nvPr>
        </p:nvSpPr>
        <p:spPr>
          <a:xfrm>
            <a:off x="457200" y="976313"/>
            <a:ext cx="8229600" cy="540207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Line 1057">
            <a:extLst>
              <a:ext uri="{FF2B5EF4-FFF2-40B4-BE49-F238E27FC236}">
                <a16:creationId xmlns:a16="http://schemas.microsoft.com/office/drawing/2014/main" id="{E0180F8B-C67A-014F-86B4-6425D016713C}"/>
              </a:ext>
            </a:extLst>
          </p:cNvPr>
          <p:cNvSpPr>
            <a:spLocks noChangeShapeType="1"/>
          </p:cNvSpPr>
          <p:nvPr userDrawn="1"/>
        </p:nvSpPr>
        <p:spPr bwMode="auto">
          <a:xfrm flipV="1">
            <a:off x="457200" y="822722"/>
            <a:ext cx="8229600" cy="15783"/>
          </a:xfrm>
          <a:prstGeom prst="line">
            <a:avLst/>
          </a:prstGeom>
          <a:ln>
            <a:headEnd/>
            <a:tailEnd/>
          </a:ln>
        </p:spPr>
        <p:style>
          <a:lnRef idx="1">
            <a:schemeClr val="accent2"/>
          </a:lnRef>
          <a:fillRef idx="0">
            <a:schemeClr val="accent2"/>
          </a:fillRef>
          <a:effectRef idx="0">
            <a:schemeClr val="accent2"/>
          </a:effectRef>
          <a:fontRef idx="minor">
            <a:schemeClr val="tx1"/>
          </a:fontRef>
        </p:style>
        <p:txBody>
          <a:bodyPr wrap="none" anchor="ctr"/>
          <a:lstStyle/>
          <a:p>
            <a:pPr fontAlgn="auto">
              <a:spcBef>
                <a:spcPts val="0"/>
              </a:spcBef>
              <a:spcAft>
                <a:spcPts val="0"/>
              </a:spcAft>
              <a:defRPr/>
            </a:pPr>
            <a:endParaRPr lang="en-US">
              <a:latin typeface="+mn-lt"/>
            </a:endParaRPr>
          </a:p>
        </p:txBody>
      </p:sp>
      <p:pic>
        <p:nvPicPr>
          <p:cNvPr id="15" name="Picture 14">
            <a:extLst>
              <a:ext uri="{FF2B5EF4-FFF2-40B4-BE49-F238E27FC236}">
                <a16:creationId xmlns:a16="http://schemas.microsoft.com/office/drawing/2014/main" id="{799CD89B-084B-D04A-A863-AD2B2ED77568}"/>
              </a:ext>
            </a:extLst>
          </p:cNvPr>
          <p:cNvPicPr>
            <a:picLocks noChangeAspect="1"/>
          </p:cNvPicPr>
          <p:nvPr userDrawn="1"/>
        </p:nvPicPr>
        <p:blipFill>
          <a:blip r:embed="rId2"/>
          <a:stretch>
            <a:fillRect/>
          </a:stretch>
        </p:blipFill>
        <p:spPr>
          <a:xfrm>
            <a:off x="472670" y="16771"/>
            <a:ext cx="1449153" cy="790170"/>
          </a:xfrm>
          <a:prstGeom prst="rect">
            <a:avLst/>
          </a:prstGeom>
        </p:spPr>
      </p:pic>
      <p:sp>
        <p:nvSpPr>
          <p:cNvPr id="11" name="Rectangle 1056">
            <a:extLst>
              <a:ext uri="{FF2B5EF4-FFF2-40B4-BE49-F238E27FC236}">
                <a16:creationId xmlns:a16="http://schemas.microsoft.com/office/drawing/2014/main" id="{9DA947C3-1AB8-1944-94EA-07318327ACB3}"/>
              </a:ext>
            </a:extLst>
          </p:cNvPr>
          <p:cNvSpPr>
            <a:spLocks noChangeArrowheads="1"/>
          </p:cNvSpPr>
          <p:nvPr userDrawn="1"/>
        </p:nvSpPr>
        <p:spPr bwMode="auto">
          <a:xfrm>
            <a:off x="444243" y="6496883"/>
            <a:ext cx="874439" cy="361117"/>
          </a:xfrm>
          <a:prstGeom prst="rect">
            <a:avLst/>
          </a:prstGeom>
          <a:noFill/>
          <a:ln w="19050">
            <a:noFill/>
            <a:miter lim="800000"/>
            <a:headEnd/>
            <a:tailEnd/>
          </a:ln>
          <a:effectLst/>
        </p:spPr>
        <p:txBody>
          <a:bodyPr/>
          <a:lstStyle/>
          <a:p>
            <a:pPr algn="ctr" fontAlgn="auto">
              <a:spcBef>
                <a:spcPts val="0"/>
              </a:spcBef>
              <a:spcAft>
                <a:spcPts val="0"/>
              </a:spcAft>
              <a:defRPr/>
            </a:pPr>
            <a:fld id="{D0EEE225-A7BC-457B-9273-D4D41378CEAC}" type="slidenum">
              <a:rPr lang="en-US" sz="1400" b="1" smtClean="0">
                <a:solidFill>
                  <a:srgbClr val="0070C0"/>
                </a:solidFill>
                <a:latin typeface="+mj-lt"/>
                <a:cs typeface="Arial" panose="020B0604020202020204" pitchFamily="34" charset="0"/>
              </a:rPr>
              <a:pPr algn="ctr" fontAlgn="auto">
                <a:spcBef>
                  <a:spcPts val="0"/>
                </a:spcBef>
                <a:spcAft>
                  <a:spcPts val="0"/>
                </a:spcAft>
                <a:defRPr/>
              </a:pPr>
              <a:t>‹#›</a:t>
            </a:fld>
            <a:r>
              <a:rPr lang="en-US" sz="1400" b="1" dirty="0">
                <a:solidFill>
                  <a:srgbClr val="0070C0"/>
                </a:solidFill>
                <a:latin typeface="+mj-lt"/>
                <a:cs typeface="Arial" panose="020B0604020202020204" pitchFamily="34" charset="0"/>
              </a:rPr>
              <a:t> / 18</a:t>
            </a:r>
          </a:p>
        </p:txBody>
      </p:sp>
      <p:cxnSp>
        <p:nvCxnSpPr>
          <p:cNvPr id="12" name="Straight Connector 11">
            <a:extLst>
              <a:ext uri="{FF2B5EF4-FFF2-40B4-BE49-F238E27FC236}">
                <a16:creationId xmlns:a16="http://schemas.microsoft.com/office/drawing/2014/main" id="{D76ADE6F-E287-9D45-BF4E-78DDB3322AB7}"/>
              </a:ext>
            </a:extLst>
          </p:cNvPr>
          <p:cNvCxnSpPr/>
          <p:nvPr userDrawn="1"/>
        </p:nvCxnSpPr>
        <p:spPr>
          <a:xfrm>
            <a:off x="444243" y="6496883"/>
            <a:ext cx="874439" cy="0"/>
          </a:xfrm>
          <a:prstGeom prst="line">
            <a:avLst/>
          </a:prstGeom>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20571399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220170DD-C861-476F-B7D8-5341A2B4ECC3}" type="datetimeFigureOut">
              <a:rPr lang="en-GB" smtClean="0"/>
              <a:t>01/06/2026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DF74D9D-2B93-4224-B077-96C9625F4AFD}" type="slidenum">
              <a:rPr lang="en-GB" smtClean="0"/>
              <a:t>‹#›</a:t>
            </a:fld>
            <a:endParaRPr lang="en-GB"/>
          </a:p>
        </p:txBody>
      </p:sp>
    </p:spTree>
    <p:extLst>
      <p:ext uri="{BB962C8B-B14F-4D97-AF65-F5344CB8AC3E}">
        <p14:creationId xmlns:p14="http://schemas.microsoft.com/office/powerpoint/2010/main" val="27496386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0170DD-C861-476F-B7D8-5341A2B4ECC3}" type="datetimeFigureOut">
              <a:rPr lang="en-GB" smtClean="0"/>
              <a:t>01/06/2026</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F74D9D-2B93-4224-B077-96C9625F4AFD}" type="slidenum">
              <a:rPr lang="en-GB" smtClean="0"/>
              <a:t>‹#›</a:t>
            </a:fld>
            <a:endParaRPr lang="en-GB"/>
          </a:p>
        </p:txBody>
      </p:sp>
    </p:spTree>
    <p:extLst>
      <p:ext uri="{BB962C8B-B14F-4D97-AF65-F5344CB8AC3E}">
        <p14:creationId xmlns:p14="http://schemas.microsoft.com/office/powerpoint/2010/main" val="357381568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rgbClr val="280099"/>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rgbClr val="280099"/>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rgbClr val="280099"/>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rgbClr val="280099"/>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rgbClr val="280099"/>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A045AB4-3B3B-9D46-91AA-D63674BAC40B}"/>
              </a:ext>
            </a:extLst>
          </p:cNvPr>
          <p:cNvSpPr>
            <a:spLocks noGrp="1"/>
          </p:cNvSpPr>
          <p:nvPr>
            <p:ph type="ctrTitle"/>
          </p:nvPr>
        </p:nvSpPr>
        <p:spPr>
          <a:xfrm>
            <a:off x="391999" y="2316077"/>
            <a:ext cx="8382000" cy="827171"/>
          </a:xfrm>
        </p:spPr>
        <p:txBody>
          <a:bodyPr>
            <a:noAutofit/>
          </a:bodyPr>
          <a:lstStyle/>
          <a:p>
            <a:r>
              <a:rPr lang="en-US" sz="3600" dirty="0">
                <a:solidFill>
                  <a:srgbClr val="0070C0"/>
                </a:solidFill>
                <a:latin typeface="+mn-lt"/>
                <a:ea typeface="+mn-ea"/>
                <a:cs typeface="+mn-cs"/>
              </a:rPr>
              <a:t>Software Design (swD392)</a:t>
            </a:r>
          </a:p>
        </p:txBody>
      </p:sp>
      <p:sp>
        <p:nvSpPr>
          <p:cNvPr id="12" name="Subtitle 2">
            <a:extLst>
              <a:ext uri="{FF2B5EF4-FFF2-40B4-BE49-F238E27FC236}">
                <a16:creationId xmlns:a16="http://schemas.microsoft.com/office/drawing/2014/main" id="{9E3A49C6-8B03-984C-A45B-82E3A6B8108A}"/>
              </a:ext>
            </a:extLst>
          </p:cNvPr>
          <p:cNvSpPr txBox="1">
            <a:spLocks/>
          </p:cNvSpPr>
          <p:nvPr/>
        </p:nvSpPr>
        <p:spPr>
          <a:xfrm>
            <a:off x="1043607" y="3143248"/>
            <a:ext cx="7056785" cy="1005832"/>
          </a:xfrm>
          <a:prstGeom prst="rect">
            <a:avLst/>
          </a:prstGeom>
        </p:spPr>
        <p:txBody>
          <a:bodyPr>
            <a:noAutofit/>
          </a:bodyPr>
          <a:lstStyle>
            <a:lvl1pPr marL="342900" indent="-342900" algn="l" defTabSz="914400" rtl="0" eaLnBrk="1" latinLnBrk="0" hangingPunct="1">
              <a:spcBef>
                <a:spcPct val="20000"/>
              </a:spcBef>
              <a:buFont typeface="Wingdings" pitchFamily="2" charset="2"/>
              <a:buChar char="§"/>
              <a:defRPr lang="en-US" sz="3200" kern="1200" baseline="0" dirty="0" smtClean="0">
                <a:solidFill>
                  <a:srgbClr val="280099"/>
                </a:solidFill>
                <a:latin typeface="+mn-lt"/>
                <a:ea typeface="+mn-ea"/>
                <a:cs typeface="+mn-cs"/>
              </a:defRPr>
            </a:lvl1pPr>
            <a:lvl2pPr marL="742950" indent="-285750" algn="l" defTabSz="914400" rtl="0" eaLnBrk="1" latinLnBrk="0" hangingPunct="1">
              <a:spcBef>
                <a:spcPct val="20000"/>
              </a:spcBef>
              <a:buFont typeface="Arial" pitchFamily="34" charset="0"/>
              <a:buChar char="–"/>
              <a:defRPr lang="en-US" sz="2800" kern="1200" baseline="0" dirty="0" smtClean="0">
                <a:solidFill>
                  <a:srgbClr val="280099"/>
                </a:solidFill>
                <a:latin typeface="+mn-lt"/>
                <a:ea typeface="+mn-ea"/>
                <a:cs typeface="+mn-cs"/>
              </a:defRPr>
            </a:lvl2pPr>
            <a:lvl3pPr marL="1143000" indent="-228600" algn="l" defTabSz="914400" rtl="0" eaLnBrk="1" latinLnBrk="0" hangingPunct="1">
              <a:spcBef>
                <a:spcPct val="20000"/>
              </a:spcBef>
              <a:buFont typeface="Calibri" pitchFamily="34" charset="0"/>
              <a:buChar char="+"/>
              <a:defRPr lang="en-US" sz="2400" kern="1200" baseline="0" dirty="0" smtClean="0">
                <a:solidFill>
                  <a:srgbClr val="280099"/>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2000" kern="1200" baseline="0" dirty="0" smtClean="0">
                <a:solidFill>
                  <a:srgbClr val="280099"/>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n-US" sz="2000" kern="1200" baseline="0" dirty="0" smtClean="0">
                <a:solidFill>
                  <a:srgbClr val="28009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spcAft>
                <a:spcPts val="0"/>
              </a:spcAft>
              <a:buNone/>
            </a:pPr>
            <a:r>
              <a:rPr lang="en-US" sz="3000" b="1" i="1" cap="all" dirty="0">
                <a:solidFill>
                  <a:srgbClr val="0070C0"/>
                </a:solidFill>
              </a:rPr>
              <a:t>Ch08 - ﻿Object and Class Structuring</a:t>
            </a:r>
          </a:p>
        </p:txBody>
      </p:sp>
      <p:pic>
        <p:nvPicPr>
          <p:cNvPr id="3" name="Picture 2">
            <a:extLst>
              <a:ext uri="{FF2B5EF4-FFF2-40B4-BE49-F238E27FC236}">
                <a16:creationId xmlns:a16="http://schemas.microsoft.com/office/drawing/2014/main" id="{4443AD00-2C71-864D-957E-1D17462BF08F}"/>
              </a:ext>
            </a:extLst>
          </p:cNvPr>
          <p:cNvPicPr>
            <a:picLocks noChangeAspect="1"/>
          </p:cNvPicPr>
          <p:nvPr/>
        </p:nvPicPr>
        <p:blipFill>
          <a:blip r:embed="rId3"/>
          <a:stretch>
            <a:fillRect/>
          </a:stretch>
        </p:blipFill>
        <p:spPr>
          <a:xfrm>
            <a:off x="3131840" y="369158"/>
            <a:ext cx="2512194" cy="1369807"/>
          </a:xfrm>
          <a:prstGeom prst="rect">
            <a:avLst/>
          </a:prstGeom>
        </p:spPr>
      </p:pic>
      <p:sp>
        <p:nvSpPr>
          <p:cNvPr id="2" name="Subtitle 2">
            <a:extLst>
              <a:ext uri="{FF2B5EF4-FFF2-40B4-BE49-F238E27FC236}">
                <a16:creationId xmlns:a16="http://schemas.microsoft.com/office/drawing/2014/main" id="{52390652-1BBC-C974-3FD0-CBC8B72B1AE4}"/>
              </a:ext>
            </a:extLst>
          </p:cNvPr>
          <p:cNvSpPr txBox="1">
            <a:spLocks/>
          </p:cNvSpPr>
          <p:nvPr/>
        </p:nvSpPr>
        <p:spPr>
          <a:xfrm>
            <a:off x="1043607" y="4869160"/>
            <a:ext cx="7056785" cy="1005832"/>
          </a:xfrm>
          <a:prstGeom prst="rect">
            <a:avLst/>
          </a:prstGeom>
        </p:spPr>
        <p:txBody>
          <a:bodyPr>
            <a:noAutofit/>
          </a:bodyPr>
          <a:lstStyle>
            <a:lvl1pPr marL="342900" indent="-342900" algn="l" defTabSz="914400" rtl="0" eaLnBrk="1" latinLnBrk="0" hangingPunct="1">
              <a:spcBef>
                <a:spcPct val="20000"/>
              </a:spcBef>
              <a:buFont typeface="Wingdings" pitchFamily="2" charset="2"/>
              <a:buChar char="§"/>
              <a:defRPr lang="en-US" sz="3200" kern="1200" baseline="0" dirty="0" smtClean="0">
                <a:solidFill>
                  <a:srgbClr val="280099"/>
                </a:solidFill>
                <a:latin typeface="+mn-lt"/>
                <a:ea typeface="+mn-ea"/>
                <a:cs typeface="+mn-cs"/>
              </a:defRPr>
            </a:lvl1pPr>
            <a:lvl2pPr marL="742950" indent="-285750" algn="l" defTabSz="914400" rtl="0" eaLnBrk="1" latinLnBrk="0" hangingPunct="1">
              <a:spcBef>
                <a:spcPct val="20000"/>
              </a:spcBef>
              <a:buFont typeface="Arial" pitchFamily="34" charset="0"/>
              <a:buChar char="–"/>
              <a:defRPr lang="en-US" sz="2800" kern="1200" baseline="0" dirty="0" smtClean="0">
                <a:solidFill>
                  <a:srgbClr val="280099"/>
                </a:solidFill>
                <a:latin typeface="+mn-lt"/>
                <a:ea typeface="+mn-ea"/>
                <a:cs typeface="+mn-cs"/>
              </a:defRPr>
            </a:lvl2pPr>
            <a:lvl3pPr marL="1143000" indent="-228600" algn="l" defTabSz="914400" rtl="0" eaLnBrk="1" latinLnBrk="0" hangingPunct="1">
              <a:spcBef>
                <a:spcPct val="20000"/>
              </a:spcBef>
              <a:buFont typeface="Calibri" pitchFamily="34" charset="0"/>
              <a:buChar char="+"/>
              <a:defRPr lang="en-US" sz="2400" kern="1200" baseline="0" dirty="0" smtClean="0">
                <a:solidFill>
                  <a:srgbClr val="280099"/>
                </a:solidFill>
                <a:latin typeface="+mn-lt"/>
                <a:ea typeface="+mn-ea"/>
                <a:cs typeface="+mn-cs"/>
              </a:defRPr>
            </a:lvl3pPr>
            <a:lvl4pPr marL="1600200" indent="-228600" algn="l" defTabSz="914400" rtl="0" eaLnBrk="1" latinLnBrk="0" hangingPunct="1">
              <a:spcBef>
                <a:spcPct val="20000"/>
              </a:spcBef>
              <a:buFont typeface="Arial" pitchFamily="34" charset="0"/>
              <a:buChar char="»"/>
              <a:defRPr lang="en-US" sz="2000" kern="1200" baseline="0" dirty="0" smtClean="0">
                <a:solidFill>
                  <a:srgbClr val="280099"/>
                </a:solidFill>
                <a:latin typeface="+mn-lt"/>
                <a:ea typeface="+mn-ea"/>
                <a:cs typeface="+mn-cs"/>
              </a:defRPr>
            </a:lvl4pPr>
            <a:lvl5pPr marL="2057400" indent="-228600" algn="l" defTabSz="914400" rtl="0" eaLnBrk="1" latinLnBrk="0" hangingPunct="1">
              <a:spcBef>
                <a:spcPct val="20000"/>
              </a:spcBef>
              <a:buFont typeface="Arial" pitchFamily="34" charset="0"/>
              <a:buChar char="•"/>
              <a:defRPr lang="en-US" sz="2000" kern="1200" baseline="0" dirty="0" smtClean="0">
                <a:solidFill>
                  <a:srgbClr val="28009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fontAlgn="auto">
              <a:spcAft>
                <a:spcPts val="0"/>
              </a:spcAft>
              <a:buNone/>
            </a:pPr>
            <a:r>
              <a:rPr lang="en-US" sz="2000" cap="all" dirty="0">
                <a:solidFill>
                  <a:srgbClr val="0070C0"/>
                </a:solidFill>
              </a:rPr>
              <a:t>Presented by group 6</a:t>
            </a:r>
          </a:p>
        </p:txBody>
      </p:sp>
    </p:spTree>
    <p:extLst>
      <p:ext uri="{BB962C8B-B14F-4D97-AF65-F5344CB8AC3E}">
        <p14:creationId xmlns:p14="http://schemas.microsoft.com/office/powerpoint/2010/main" val="34658958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499EA-C5CE-5347-919C-C0D74F007F96}"/>
              </a:ext>
            </a:extLst>
          </p:cNvPr>
          <p:cNvSpPr>
            <a:spLocks noGrp="1"/>
          </p:cNvSpPr>
          <p:nvPr>
            <p:ph type="title"/>
          </p:nvPr>
        </p:nvSpPr>
        <p:spPr/>
        <p:txBody>
          <a:bodyPr/>
          <a:lstStyle/>
          <a:p>
            <a:r>
              <a:rPr lang="en-US" dirty="0"/>
              <a:t>Main Contents</a:t>
            </a:r>
          </a:p>
        </p:txBody>
      </p:sp>
      <p:sp>
        <p:nvSpPr>
          <p:cNvPr id="3" name="Content Placeholder 2">
            <a:extLst>
              <a:ext uri="{FF2B5EF4-FFF2-40B4-BE49-F238E27FC236}">
                <a16:creationId xmlns:a16="http://schemas.microsoft.com/office/drawing/2014/main" id="{95E112E8-6461-6941-847B-75C1524A4D1C}"/>
              </a:ext>
            </a:extLst>
          </p:cNvPr>
          <p:cNvSpPr>
            <a:spLocks noGrp="1"/>
          </p:cNvSpPr>
          <p:nvPr>
            <p:ph idx="1"/>
          </p:nvPr>
        </p:nvSpPr>
        <p:spPr/>
        <p:txBody>
          <a:bodyPr/>
          <a:lstStyle/>
          <a:p>
            <a:r>
              <a:rPr lang="en-US" dirty="0"/>
              <a:t>Overview</a:t>
            </a:r>
          </a:p>
          <a:p>
            <a:r>
              <a:rPr lang="en-US" dirty="0"/>
              <a:t>External Classes &amp; Software Boundary Classes</a:t>
            </a:r>
          </a:p>
          <a:p>
            <a:r>
              <a:rPr lang="en-US" dirty="0"/>
              <a:t>Entity Classes &amp; Objects</a:t>
            </a:r>
          </a:p>
          <a:p>
            <a:r>
              <a:rPr lang="en-US" dirty="0"/>
              <a:t>Control Classes &amp; Objects</a:t>
            </a:r>
          </a:p>
          <a:p>
            <a:r>
              <a:rPr lang="en-US" dirty="0"/>
              <a:t>Application Logic Classes &amp; Objects</a:t>
            </a:r>
          </a:p>
          <a:p>
            <a:endParaRPr lang="en-US" dirty="0"/>
          </a:p>
        </p:txBody>
      </p:sp>
    </p:spTree>
    <p:extLst>
      <p:ext uri="{BB962C8B-B14F-4D97-AF65-F5344CB8AC3E}">
        <p14:creationId xmlns:p14="http://schemas.microsoft.com/office/powerpoint/2010/main" val="2443509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E929-84A9-4F47-A4C4-2C3AA25915CD}"/>
              </a:ext>
            </a:extLst>
          </p:cNvPr>
          <p:cNvSpPr>
            <a:spLocks noGrp="1"/>
          </p:cNvSpPr>
          <p:nvPr>
            <p:ph type="title"/>
          </p:nvPr>
        </p:nvSpPr>
        <p:spPr/>
        <p:txBody>
          <a:bodyPr>
            <a:normAutofit/>
          </a:bodyPr>
          <a:lstStyle/>
          <a:p>
            <a:r>
              <a:rPr lang="en-US" dirty="0"/>
              <a:t>Overview</a:t>
            </a:r>
            <a:endParaRPr lang="en-US" i="1" dirty="0"/>
          </a:p>
        </p:txBody>
      </p:sp>
      <p:sp>
        <p:nvSpPr>
          <p:cNvPr id="3" name="Content Placeholder 2">
            <a:extLst>
              <a:ext uri="{FF2B5EF4-FFF2-40B4-BE49-F238E27FC236}">
                <a16:creationId xmlns:a16="http://schemas.microsoft.com/office/drawing/2014/main" id="{0A8D15DA-BC4B-8E45-AB98-DCA461238EDF}"/>
              </a:ext>
            </a:extLst>
          </p:cNvPr>
          <p:cNvSpPr>
            <a:spLocks noGrp="1"/>
          </p:cNvSpPr>
          <p:nvPr>
            <p:ph idx="1"/>
          </p:nvPr>
        </p:nvSpPr>
        <p:spPr/>
        <p:txBody>
          <a:bodyPr>
            <a:normAutofit lnSpcReduction="10000"/>
          </a:bodyPr>
          <a:lstStyle/>
          <a:p>
            <a:r>
              <a:rPr lang="en-US" dirty="0"/>
              <a:t>Requirement modeling is to understand the ﻿problem domain</a:t>
            </a:r>
          </a:p>
          <a:p>
            <a:pPr lvl="1"/>
            <a:r>
              <a:rPr lang="en-US" dirty="0"/>
              <a:t>Use case modeling: actors, UCs, UC diagrams</a:t>
            </a:r>
          </a:p>
          <a:p>
            <a:pPr lvl="1"/>
            <a:r>
              <a:rPr lang="en-US" dirty="0"/>
              <a:t>Static modeling: class/object relationships, system context class diagrams, software context class diagrams, entity class models</a:t>
            </a:r>
          </a:p>
          <a:p>
            <a:r>
              <a:rPr lang="en-US" dirty="0"/>
              <a:t>﻿Object and Class Structuring are ﻿to determine the software objects in the system</a:t>
            </a:r>
          </a:p>
          <a:p>
            <a:pPr lvl="1"/>
            <a:r>
              <a:rPr lang="en-US" dirty="0"/>
              <a:t>﻿The emphasis is on software objects that model real-world objects in the problem domain</a:t>
            </a:r>
          </a:p>
          <a:p>
            <a:pPr lvl="1"/>
            <a:r>
              <a:rPr lang="en-US" dirty="0"/>
              <a:t>The application ﻿classes are categorized in order to group together classes with similar characteristics</a:t>
            </a:r>
          </a:p>
          <a:p>
            <a:endParaRPr lang="en-US" dirty="0"/>
          </a:p>
        </p:txBody>
      </p:sp>
    </p:spTree>
    <p:extLst>
      <p:ext uri="{BB962C8B-B14F-4D97-AF65-F5344CB8AC3E}">
        <p14:creationId xmlns:p14="http://schemas.microsoft.com/office/powerpoint/2010/main" val="17075601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E929-84A9-4F47-A4C4-2C3AA25915CD}"/>
              </a:ext>
            </a:extLst>
          </p:cNvPr>
          <p:cNvSpPr>
            <a:spLocks noGrp="1"/>
          </p:cNvSpPr>
          <p:nvPr>
            <p:ph type="title"/>
          </p:nvPr>
        </p:nvSpPr>
        <p:spPr/>
        <p:txBody>
          <a:bodyPr>
            <a:normAutofit fontScale="90000"/>
          </a:bodyPr>
          <a:lstStyle/>
          <a:p>
            <a:r>
              <a:rPr lang="en-US" dirty="0"/>
              <a:t>Overview</a:t>
            </a:r>
            <a:br>
              <a:rPr lang="en-US" dirty="0"/>
            </a:br>
            <a:r>
              <a:rPr lang="en-US" sz="3100" i="1" dirty="0"/>
              <a:t>Object &amp; Class Structuring Categories 1/3</a:t>
            </a:r>
            <a:endParaRPr lang="en-US" i="1" dirty="0"/>
          </a:p>
        </p:txBody>
      </p:sp>
      <p:pic>
        <p:nvPicPr>
          <p:cNvPr id="6" name="Picture 5">
            <a:extLst>
              <a:ext uri="{FF2B5EF4-FFF2-40B4-BE49-F238E27FC236}">
                <a16:creationId xmlns:a16="http://schemas.microsoft.com/office/drawing/2014/main" id="{7FDF5F96-6B08-894E-B852-49E991224A13}"/>
              </a:ext>
            </a:extLst>
          </p:cNvPr>
          <p:cNvPicPr>
            <a:picLocks noChangeAspect="1"/>
          </p:cNvPicPr>
          <p:nvPr/>
        </p:nvPicPr>
        <p:blipFill>
          <a:blip r:embed="rId3"/>
          <a:stretch>
            <a:fillRect/>
          </a:stretch>
        </p:blipFill>
        <p:spPr>
          <a:xfrm>
            <a:off x="245792" y="1124744"/>
            <a:ext cx="8652415" cy="3672408"/>
          </a:xfrm>
          <a:prstGeom prst="rect">
            <a:avLst/>
          </a:prstGeom>
        </p:spPr>
      </p:pic>
    </p:spTree>
    <p:extLst>
      <p:ext uri="{BB962C8B-B14F-4D97-AF65-F5344CB8AC3E}">
        <p14:creationId xmlns:p14="http://schemas.microsoft.com/office/powerpoint/2010/main" val="957291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E929-84A9-4F47-A4C4-2C3AA25915CD}"/>
              </a:ext>
            </a:extLst>
          </p:cNvPr>
          <p:cNvSpPr>
            <a:spLocks noGrp="1"/>
          </p:cNvSpPr>
          <p:nvPr>
            <p:ph type="title"/>
          </p:nvPr>
        </p:nvSpPr>
        <p:spPr/>
        <p:txBody>
          <a:bodyPr>
            <a:normAutofit fontScale="90000"/>
          </a:bodyPr>
          <a:lstStyle/>
          <a:p>
            <a:r>
              <a:rPr lang="en-US" dirty="0"/>
              <a:t>Overview</a:t>
            </a:r>
            <a:br>
              <a:rPr lang="en-US" dirty="0"/>
            </a:br>
            <a:r>
              <a:rPr lang="en-US" sz="3100" i="1" dirty="0"/>
              <a:t>Object &amp; Class Structuring Categories 2/3</a:t>
            </a:r>
            <a:endParaRPr lang="en-US" i="1" dirty="0"/>
          </a:p>
        </p:txBody>
      </p:sp>
      <p:pic>
        <p:nvPicPr>
          <p:cNvPr id="4" name="Picture 3">
            <a:extLst>
              <a:ext uri="{FF2B5EF4-FFF2-40B4-BE49-F238E27FC236}">
                <a16:creationId xmlns:a16="http://schemas.microsoft.com/office/drawing/2014/main" id="{57645C9E-ACDA-5E4F-BCA2-68F8C12F5E6D}"/>
              </a:ext>
            </a:extLst>
          </p:cNvPr>
          <p:cNvPicPr>
            <a:picLocks noChangeAspect="1"/>
          </p:cNvPicPr>
          <p:nvPr/>
        </p:nvPicPr>
        <p:blipFill>
          <a:blip r:embed="rId2"/>
          <a:stretch>
            <a:fillRect/>
          </a:stretch>
        </p:blipFill>
        <p:spPr>
          <a:xfrm>
            <a:off x="539552" y="1052736"/>
            <a:ext cx="8138120" cy="4248472"/>
          </a:xfrm>
          <a:prstGeom prst="rect">
            <a:avLst/>
          </a:prstGeom>
        </p:spPr>
      </p:pic>
    </p:spTree>
    <p:extLst>
      <p:ext uri="{BB962C8B-B14F-4D97-AF65-F5344CB8AC3E}">
        <p14:creationId xmlns:p14="http://schemas.microsoft.com/office/powerpoint/2010/main" val="42207479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E929-84A9-4F47-A4C4-2C3AA25915CD}"/>
              </a:ext>
            </a:extLst>
          </p:cNvPr>
          <p:cNvSpPr>
            <a:spLocks noGrp="1"/>
          </p:cNvSpPr>
          <p:nvPr>
            <p:ph type="title"/>
          </p:nvPr>
        </p:nvSpPr>
        <p:spPr/>
        <p:txBody>
          <a:bodyPr>
            <a:normAutofit fontScale="90000"/>
          </a:bodyPr>
          <a:lstStyle/>
          <a:p>
            <a:r>
              <a:rPr lang="en-US" dirty="0"/>
              <a:t>Overview</a:t>
            </a:r>
            <a:br>
              <a:rPr lang="en-US" dirty="0"/>
            </a:br>
            <a:r>
              <a:rPr lang="en-US" sz="3100" i="1" dirty="0"/>
              <a:t>Object &amp; Class Structuring Categories 3/3</a:t>
            </a:r>
            <a:endParaRPr lang="en-US" i="1" dirty="0"/>
          </a:p>
        </p:txBody>
      </p:sp>
      <p:sp>
        <p:nvSpPr>
          <p:cNvPr id="5" name="Content Placeholder 2">
            <a:extLst>
              <a:ext uri="{FF2B5EF4-FFF2-40B4-BE49-F238E27FC236}">
                <a16:creationId xmlns:a16="http://schemas.microsoft.com/office/drawing/2014/main" id="{666BAFD1-E929-564B-AEBF-F343CE80DBC4}"/>
              </a:ext>
            </a:extLst>
          </p:cNvPr>
          <p:cNvSpPr>
            <a:spLocks noGrp="1"/>
          </p:cNvSpPr>
          <p:nvPr>
            <p:ph idx="1"/>
          </p:nvPr>
        </p:nvSpPr>
        <p:spPr>
          <a:xfrm>
            <a:off x="457200" y="976313"/>
            <a:ext cx="8229600" cy="5402070"/>
          </a:xfrm>
        </p:spPr>
        <p:txBody>
          <a:bodyPr>
            <a:normAutofit fontScale="92500" lnSpcReduction="20000"/>
          </a:bodyPr>
          <a:lstStyle/>
          <a:p>
            <a:pPr marL="0" indent="0">
              <a:buNone/>
            </a:pPr>
            <a:r>
              <a:rPr lang="en-US" dirty="0"/>
              <a:t>﻿</a:t>
            </a:r>
            <a:r>
              <a:rPr lang="en-US" b="1" dirty="0"/>
              <a:t>Application logic object</a:t>
            </a:r>
            <a:r>
              <a:rPr lang="en-US" dirty="0"/>
              <a:t>. Software object that contains the details of the application logic. Needed when it is desirable to hide the application logic separately from the data being manipulated because it is considered likely that the application logic could change independently of the data. </a:t>
            </a:r>
          </a:p>
          <a:p>
            <a:r>
              <a:rPr lang="en-US" dirty="0"/>
              <a:t>For information systems, application logic objects are usually </a:t>
            </a:r>
            <a:r>
              <a:rPr lang="en-US" b="1" i="1" dirty="0"/>
              <a:t>business logic objects</a:t>
            </a:r>
          </a:p>
          <a:p>
            <a:r>
              <a:rPr lang="en-US" dirty="0"/>
              <a:t>For real-time, scientific, or engineering applications, they are usually </a:t>
            </a:r>
            <a:r>
              <a:rPr lang="en-US" b="1" i="1" dirty="0"/>
              <a:t>algorithm objects</a:t>
            </a:r>
            <a:r>
              <a:rPr lang="en-US" dirty="0"/>
              <a:t>.</a:t>
            </a:r>
          </a:p>
          <a:p>
            <a:r>
              <a:rPr lang="en-US" dirty="0"/>
              <a:t>Another category is </a:t>
            </a:r>
            <a:r>
              <a:rPr lang="en-US" b="1" i="1" dirty="0"/>
              <a:t>service objects</a:t>
            </a:r>
            <a:r>
              <a:rPr lang="en-US" dirty="0"/>
              <a:t>, which provide services for client objects, typically in service-oriented architectures and applications</a:t>
            </a:r>
          </a:p>
        </p:txBody>
      </p:sp>
    </p:spTree>
    <p:extLst>
      <p:ext uri="{BB962C8B-B14F-4D97-AF65-F5344CB8AC3E}">
        <p14:creationId xmlns:p14="http://schemas.microsoft.com/office/powerpoint/2010/main" val="1338827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21E929-84A9-4F47-A4C4-2C3AA25915CD}"/>
              </a:ext>
            </a:extLst>
          </p:cNvPr>
          <p:cNvSpPr>
            <a:spLocks noGrp="1"/>
          </p:cNvSpPr>
          <p:nvPr>
            <p:ph type="title"/>
          </p:nvPr>
        </p:nvSpPr>
        <p:spPr/>
        <p:txBody>
          <a:bodyPr>
            <a:noAutofit/>
          </a:bodyPr>
          <a:lstStyle/>
          <a:p>
            <a:r>
              <a:rPr lang="en-US" sz="3200" dirty="0"/>
              <a:t>External Classes </a:t>
            </a:r>
            <a:br>
              <a:rPr lang="en-US" sz="3200" dirty="0"/>
            </a:br>
            <a:r>
              <a:rPr lang="en-US" sz="2800" dirty="0"/>
              <a:t>&amp; Software Boundary Classes</a:t>
            </a:r>
            <a:endParaRPr lang="en-US" sz="3200" dirty="0"/>
          </a:p>
        </p:txBody>
      </p:sp>
      <p:pic>
        <p:nvPicPr>
          <p:cNvPr id="4" name="Picture 3">
            <a:extLst>
              <a:ext uri="{FF2B5EF4-FFF2-40B4-BE49-F238E27FC236}">
                <a16:creationId xmlns:a16="http://schemas.microsoft.com/office/drawing/2014/main" id="{EEC12E59-0AF9-E64B-BD46-3AEF602A3620}"/>
              </a:ext>
            </a:extLst>
          </p:cNvPr>
          <p:cNvPicPr>
            <a:picLocks noChangeAspect="1"/>
          </p:cNvPicPr>
          <p:nvPr/>
        </p:nvPicPr>
        <p:blipFill>
          <a:blip r:embed="rId3"/>
          <a:stretch>
            <a:fillRect/>
          </a:stretch>
        </p:blipFill>
        <p:spPr>
          <a:xfrm>
            <a:off x="539552" y="1052736"/>
            <a:ext cx="8151152" cy="2592288"/>
          </a:xfrm>
          <a:prstGeom prst="rect">
            <a:avLst/>
          </a:prstGeom>
        </p:spPr>
      </p:pic>
      <p:sp>
        <p:nvSpPr>
          <p:cNvPr id="5" name="Content Placeholder 2">
            <a:extLst>
              <a:ext uri="{FF2B5EF4-FFF2-40B4-BE49-F238E27FC236}">
                <a16:creationId xmlns:a16="http://schemas.microsoft.com/office/drawing/2014/main" id="{9541C09C-D369-6243-B6E3-B0AB1E4DFC6A}"/>
              </a:ext>
            </a:extLst>
          </p:cNvPr>
          <p:cNvSpPr>
            <a:spLocks noGrp="1"/>
          </p:cNvSpPr>
          <p:nvPr>
            <p:ph idx="1"/>
          </p:nvPr>
        </p:nvSpPr>
        <p:spPr>
          <a:xfrm>
            <a:off x="457199" y="3933056"/>
            <a:ext cx="8229600" cy="2448272"/>
          </a:xfrm>
        </p:spPr>
        <p:txBody>
          <a:bodyPr>
            <a:normAutofit fontScale="62500" lnSpcReduction="20000"/>
          </a:bodyPr>
          <a:lstStyle/>
          <a:p>
            <a:pPr marL="0" indent="0">
              <a:buNone/>
            </a:pPr>
            <a:r>
              <a:rPr lang="en-US" sz="3600" b="1" dirty="0"/>
              <a:t>﻿User Interaction Objects</a:t>
            </a:r>
          </a:p>
          <a:p>
            <a:r>
              <a:rPr lang="en-US" sz="3500" dirty="0"/>
              <a:t>A user interaction object communicates directly with the human user, receiving input from the user and providing output to the user via standard I/O devices such as the keyboard, visual display, and mouse.</a:t>
            </a:r>
          </a:p>
          <a:p>
            <a:r>
              <a:rPr lang="en-US" sz="3500" dirty="0"/>
              <a:t>Depending on the user interface technology, the user interface could be very simple (such as a command line interface) or it could be more complex (such as a graphical user interface [GUI] object).</a:t>
            </a:r>
          </a:p>
        </p:txBody>
      </p:sp>
    </p:spTree>
    <p:extLst>
      <p:ext uri="{BB962C8B-B14F-4D97-AF65-F5344CB8AC3E}">
        <p14:creationId xmlns:p14="http://schemas.microsoft.com/office/powerpoint/2010/main" val="446752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lstStyle/>
          <a:p>
            <a:r>
              <a:rPr lang="en-US" dirty="0"/>
              <a:t>Entity Classes &amp; Objects</a:t>
            </a:r>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200" y="976313"/>
            <a:ext cx="8229600" cy="4396903"/>
          </a:xfrm>
        </p:spPr>
        <p:txBody>
          <a:bodyPr>
            <a:normAutofit/>
          </a:bodyPr>
          <a:lstStyle/>
          <a:p>
            <a:pPr marL="0" indent="0">
              <a:buNone/>
            </a:pPr>
            <a:r>
              <a:rPr lang="en-US" dirty="0"/>
              <a:t>﻿An entity object is a software object that stores information. </a:t>
            </a:r>
          </a:p>
          <a:p>
            <a:r>
              <a:rPr lang="en-US" sz="2800" dirty="0"/>
              <a:t>Entity objects are instances of entity classes, whose attributes and relationships with other entity classes are determined during static modeling</a:t>
            </a:r>
          </a:p>
          <a:p>
            <a:r>
              <a:rPr lang="en-US" sz="2800" dirty="0"/>
              <a:t>﻿Entity objects store data and provide limited access to that data via the operations they provide.</a:t>
            </a:r>
          </a:p>
        </p:txBody>
      </p:sp>
      <p:pic>
        <p:nvPicPr>
          <p:cNvPr id="4" name="Picture 3">
            <a:extLst>
              <a:ext uri="{FF2B5EF4-FFF2-40B4-BE49-F238E27FC236}">
                <a16:creationId xmlns:a16="http://schemas.microsoft.com/office/drawing/2014/main" id="{14A2A95D-A225-4A4B-B596-346BD2B3EF03}"/>
              </a:ext>
            </a:extLst>
          </p:cNvPr>
          <p:cNvPicPr>
            <a:picLocks noChangeAspect="1"/>
          </p:cNvPicPr>
          <p:nvPr/>
        </p:nvPicPr>
        <p:blipFill>
          <a:blip r:embed="rId2"/>
          <a:stretch>
            <a:fillRect/>
          </a:stretch>
        </p:blipFill>
        <p:spPr>
          <a:xfrm>
            <a:off x="1714522" y="4383756"/>
            <a:ext cx="5836106" cy="1781548"/>
          </a:xfrm>
          <a:prstGeom prst="rect">
            <a:avLst/>
          </a:prstGeom>
        </p:spPr>
      </p:pic>
    </p:spTree>
    <p:extLst>
      <p:ext uri="{BB962C8B-B14F-4D97-AF65-F5344CB8AC3E}">
        <p14:creationId xmlns:p14="http://schemas.microsoft.com/office/powerpoint/2010/main" val="2386554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lstStyle/>
          <a:p>
            <a:r>
              <a:rPr lang="en-US" dirty="0"/>
              <a:t>Control Classes &amp; Objects</a:t>
            </a:r>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200" y="976313"/>
            <a:ext cx="8229600" cy="4396903"/>
          </a:xfrm>
        </p:spPr>
        <p:txBody>
          <a:bodyPr>
            <a:normAutofit fontScale="92500" lnSpcReduction="10000"/>
          </a:bodyPr>
          <a:lstStyle/>
          <a:p>
            <a:pPr marL="0" indent="0">
              <a:buNone/>
            </a:pPr>
            <a:r>
              <a:rPr lang="en-US" dirty="0"/>
              <a:t>﻿A control object provides the overall coordination of the objects that realize a use case. </a:t>
            </a:r>
          </a:p>
          <a:p>
            <a:pPr marL="0" indent="0">
              <a:buNone/>
            </a:pPr>
            <a:r>
              <a:rPr lang="en-US" dirty="0"/>
              <a:t>Simple use cases do not need control objects. However, in a more complex use case, a control object is usually needed. </a:t>
            </a:r>
          </a:p>
          <a:p>
            <a:pPr marL="0" indent="0">
              <a:buNone/>
            </a:pPr>
            <a:r>
              <a:rPr lang="en-US" dirty="0"/>
              <a:t>A control object is analogous to the conductor of an orchestra, who orchestrates (controls) the behavior of the other objects that participate in the use case, notifying each object when and what it should perform. </a:t>
            </a:r>
          </a:p>
        </p:txBody>
      </p:sp>
    </p:spTree>
    <p:extLst>
      <p:ext uri="{BB962C8B-B14F-4D97-AF65-F5344CB8AC3E}">
        <p14:creationId xmlns:p14="http://schemas.microsoft.com/office/powerpoint/2010/main" val="1179455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7811CFE-BA3E-F243-B312-1F85433CBF47}"/>
              </a:ext>
            </a:extLst>
          </p:cNvPr>
          <p:cNvPicPr>
            <a:picLocks noChangeAspect="1"/>
          </p:cNvPicPr>
          <p:nvPr/>
        </p:nvPicPr>
        <p:blipFill>
          <a:blip r:embed="rId3"/>
          <a:stretch>
            <a:fillRect/>
          </a:stretch>
        </p:blipFill>
        <p:spPr>
          <a:xfrm>
            <a:off x="4932040" y="1057308"/>
            <a:ext cx="4007415" cy="2941952"/>
          </a:xfrm>
          <a:prstGeom prst="rect">
            <a:avLst/>
          </a:prstGeom>
        </p:spPr>
      </p:pic>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Control Classes &amp; Objects</a:t>
            </a:r>
            <a:br>
              <a:rPr lang="en-US" dirty="0"/>
            </a:br>
            <a:r>
              <a:rPr lang="en-US" sz="3100" i="1" dirty="0"/>
              <a:t>Categories of Control Objects</a:t>
            </a:r>
            <a:endParaRPr lang="en-US" i="1" dirty="0"/>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200" y="908721"/>
            <a:ext cx="4618856" cy="1800199"/>
          </a:xfrm>
        </p:spPr>
        <p:txBody>
          <a:bodyPr>
            <a:noAutofit/>
          </a:bodyPr>
          <a:lstStyle/>
          <a:p>
            <a:pPr marL="0" indent="0">
              <a:buNone/>
            </a:pPr>
            <a:r>
              <a:rPr lang="en-US" sz="2800" dirty="0"/>
              <a:t>Depending on the characteristics of the use case, the control object may be state-dependent or timer objects</a:t>
            </a:r>
          </a:p>
        </p:txBody>
      </p:sp>
      <p:sp>
        <p:nvSpPr>
          <p:cNvPr id="8" name="Content Placeholder 2">
            <a:extLst>
              <a:ext uri="{FF2B5EF4-FFF2-40B4-BE49-F238E27FC236}">
                <a16:creationId xmlns:a16="http://schemas.microsoft.com/office/drawing/2014/main" id="{3100C9C8-5B9D-4C18-ADFC-88AD3358AF50}"/>
              </a:ext>
            </a:extLst>
          </p:cNvPr>
          <p:cNvSpPr txBox="1">
            <a:spLocks/>
          </p:cNvSpPr>
          <p:nvPr/>
        </p:nvSpPr>
        <p:spPr>
          <a:xfrm>
            <a:off x="457200" y="3154958"/>
            <a:ext cx="7211144" cy="27305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indent="-255588"/>
            <a:r>
              <a:rPr lang="en-US" sz="2400" dirty="0"/>
              <a:t>﻿A state-dependent control object is a control object whose behavior varies in each of its states</a:t>
            </a:r>
          </a:p>
          <a:p>
            <a:pPr indent="-255588"/>
            <a:r>
              <a:rPr lang="en-US" sz="2400" dirty="0"/>
              <a:t>﻿A timer object is a control object that is activated by an external timer – for example,  a real-time clock or operating system clock. The timer object either performs some action itself or activates another object to perform the desired action</a:t>
            </a:r>
          </a:p>
        </p:txBody>
      </p:sp>
    </p:spTree>
    <p:extLst>
      <p:ext uri="{BB962C8B-B14F-4D97-AF65-F5344CB8AC3E}">
        <p14:creationId xmlns:p14="http://schemas.microsoft.com/office/powerpoint/2010/main" val="3159113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A227998-EF80-0B48-83AC-DFA1EA7FAD04}"/>
              </a:ext>
            </a:extLst>
          </p:cNvPr>
          <p:cNvPicPr>
            <a:picLocks noChangeAspect="1"/>
          </p:cNvPicPr>
          <p:nvPr/>
        </p:nvPicPr>
        <p:blipFill>
          <a:blip r:embed="rId2"/>
          <a:stretch>
            <a:fillRect/>
          </a:stretch>
        </p:blipFill>
        <p:spPr>
          <a:xfrm>
            <a:off x="4605897" y="859715"/>
            <a:ext cx="4125957" cy="2664296"/>
          </a:xfrm>
          <a:prstGeom prst="rect">
            <a:avLst/>
          </a:prstGeom>
        </p:spPr>
      </p:pic>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Control Classes &amp; Objects</a:t>
            </a:r>
            <a:br>
              <a:rPr lang="en-US" dirty="0"/>
            </a:br>
            <a:r>
              <a:rPr lang="en-US" sz="3100" i="1" dirty="0"/>
              <a:t>State-dependent Control Object</a:t>
            </a:r>
            <a:endParaRPr lang="en-US" i="1" dirty="0"/>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200" y="908721"/>
            <a:ext cx="4618856" cy="2664296"/>
          </a:xfrm>
        </p:spPr>
        <p:txBody>
          <a:bodyPr>
            <a:normAutofit/>
          </a:bodyPr>
          <a:lstStyle/>
          <a:p>
            <a:pPr marL="0" indent="0">
              <a:buNone/>
            </a:pPr>
            <a:r>
              <a:rPr lang="en-US" sz="2800" dirty="0"/>
              <a:t>A state-dependent control object receives incoming events that cause state transitions and generates output events that control other objects. </a:t>
            </a:r>
          </a:p>
        </p:txBody>
      </p:sp>
      <p:sp>
        <p:nvSpPr>
          <p:cNvPr id="8" name="Content Placeholder 2">
            <a:extLst>
              <a:ext uri="{FF2B5EF4-FFF2-40B4-BE49-F238E27FC236}">
                <a16:creationId xmlns:a16="http://schemas.microsoft.com/office/drawing/2014/main" id="{C78BDEC6-7E63-4CEC-A084-C2C2AFA7F12D}"/>
              </a:ext>
            </a:extLst>
          </p:cNvPr>
          <p:cNvSpPr txBox="1">
            <a:spLocks/>
          </p:cNvSpPr>
          <p:nvPr/>
        </p:nvSpPr>
        <p:spPr>
          <a:xfrm>
            <a:off x="457199" y="3561004"/>
            <a:ext cx="8537893" cy="2664296"/>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2400" dirty="0"/>
              <a:t>The output event generated by a state-dependent control object depends not only on the input received by the object but also on the current state of the object.</a:t>
            </a:r>
          </a:p>
          <a:p>
            <a:r>
              <a:rPr lang="en-US" sz="2400" dirty="0"/>
              <a:t>Example: state-dependent control object ATM Control is defined by means of the ATM Control state-chart. In the example, ATM Control is shown controlling two other output boundary objects, Receipt Printer Interface and Cash Dispenser Interface.</a:t>
            </a:r>
          </a:p>
        </p:txBody>
      </p:sp>
    </p:spTree>
    <p:extLst>
      <p:ext uri="{BB962C8B-B14F-4D97-AF65-F5344CB8AC3E}">
        <p14:creationId xmlns:p14="http://schemas.microsoft.com/office/powerpoint/2010/main" val="1557273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Application Logic Classes &amp; Objects</a:t>
            </a:r>
            <a:br>
              <a:rPr lang="en-US" dirty="0"/>
            </a:br>
            <a:r>
              <a:rPr lang="en-US" sz="3100" i="1" dirty="0"/>
              <a:t>Business Logic Objects 1/2</a:t>
            </a:r>
            <a:endParaRPr lang="en-US" i="1" dirty="0"/>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199" y="908720"/>
            <a:ext cx="8229599" cy="5523813"/>
          </a:xfrm>
        </p:spPr>
        <p:txBody>
          <a:bodyPr>
            <a:normAutofit fontScale="92500"/>
          </a:bodyPr>
          <a:lstStyle/>
          <a:p>
            <a:pPr marL="0" indent="0">
              <a:buNone/>
            </a:pPr>
            <a:r>
              <a:rPr lang="en-US" sz="3600" dirty="0"/>
              <a:t>﻿Defines the business-specific application logic for processing a client request. The goal is to</a:t>
            </a:r>
          </a:p>
          <a:p>
            <a:r>
              <a:rPr lang="en-US" sz="3600" dirty="0"/>
              <a:t>Encapsulate (hide) business rules that could change independently of each other into separate business logic objects. </a:t>
            </a:r>
          </a:p>
          <a:p>
            <a:r>
              <a:rPr lang="en-US" sz="3600" dirty="0"/>
              <a:t>Separate the business rules from the entity data that they operate on, because the business rules can change independently of the entity data.</a:t>
            </a:r>
            <a:endParaRPr lang="en-US" dirty="0"/>
          </a:p>
        </p:txBody>
      </p:sp>
    </p:spTree>
    <p:extLst>
      <p:ext uri="{BB962C8B-B14F-4D97-AF65-F5344CB8AC3E}">
        <p14:creationId xmlns:p14="http://schemas.microsoft.com/office/powerpoint/2010/main" val="10866870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Application Logic Classes &amp; Objects</a:t>
            </a:r>
            <a:br>
              <a:rPr lang="en-US" dirty="0"/>
            </a:br>
            <a:r>
              <a:rPr lang="en-US" sz="3100" i="1" dirty="0"/>
              <a:t>Business Logic Objects 2/2</a:t>
            </a:r>
            <a:endParaRPr lang="en-US" i="1" dirty="0"/>
          </a:p>
        </p:txBody>
      </p:sp>
      <p:pic>
        <p:nvPicPr>
          <p:cNvPr id="6" name="Picture 5">
            <a:extLst>
              <a:ext uri="{FF2B5EF4-FFF2-40B4-BE49-F238E27FC236}">
                <a16:creationId xmlns:a16="http://schemas.microsoft.com/office/drawing/2014/main" id="{DBF6143F-E042-924E-9183-074ECF5F1449}"/>
              </a:ext>
            </a:extLst>
          </p:cNvPr>
          <p:cNvPicPr>
            <a:picLocks noChangeAspect="1"/>
          </p:cNvPicPr>
          <p:nvPr/>
        </p:nvPicPr>
        <p:blipFill>
          <a:blip r:embed="rId3"/>
          <a:stretch>
            <a:fillRect/>
          </a:stretch>
        </p:blipFill>
        <p:spPr>
          <a:xfrm>
            <a:off x="683568" y="1052736"/>
            <a:ext cx="7658100" cy="5346700"/>
          </a:xfrm>
          <a:prstGeom prst="rect">
            <a:avLst/>
          </a:prstGeom>
        </p:spPr>
      </p:pic>
    </p:spTree>
    <p:extLst>
      <p:ext uri="{BB962C8B-B14F-4D97-AF65-F5344CB8AC3E}">
        <p14:creationId xmlns:p14="http://schemas.microsoft.com/office/powerpoint/2010/main" val="9137287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Application Logic Classes &amp; Objects</a:t>
            </a:r>
            <a:br>
              <a:rPr lang="en-US" dirty="0"/>
            </a:br>
            <a:r>
              <a:rPr lang="en-US" sz="3100" i="1" dirty="0"/>
              <a:t>﻿Algorithm Objects 1/2</a:t>
            </a:r>
            <a:endParaRPr lang="en-US" i="1" dirty="0"/>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199" y="908720"/>
            <a:ext cx="8229599" cy="5523813"/>
          </a:xfrm>
        </p:spPr>
        <p:txBody>
          <a:bodyPr>
            <a:normAutofit lnSpcReduction="10000"/>
          </a:bodyPr>
          <a:lstStyle/>
          <a:p>
            <a:pPr marL="0" indent="0">
              <a:buNone/>
            </a:pPr>
            <a:r>
              <a:rPr lang="en-US" dirty="0"/>
              <a:t>﻿﻿An algorithm object encapsulates an algorithm used in the problem domain. This kind of object is more prevalent in real-time, scientific, and engineering domains.</a:t>
            </a:r>
          </a:p>
          <a:p>
            <a:r>
              <a:rPr lang="en-US" dirty="0"/>
              <a:t>Algorithm objects are used when there is a substantial algorithm used in the problem domain that can change independently of the other objects</a:t>
            </a:r>
          </a:p>
          <a:p>
            <a:r>
              <a:rPr lang="en-US" dirty="0"/>
              <a:t>﻿Simple algorithms ﻿are usually operations of an entity object that operate on the data encapsulated in the entity</a:t>
            </a:r>
            <a:endParaRPr lang="en-US" sz="2800" dirty="0"/>
          </a:p>
        </p:txBody>
      </p:sp>
    </p:spTree>
    <p:extLst>
      <p:ext uri="{BB962C8B-B14F-4D97-AF65-F5344CB8AC3E}">
        <p14:creationId xmlns:p14="http://schemas.microsoft.com/office/powerpoint/2010/main" val="32103464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Application Logic Classes &amp; Objects</a:t>
            </a:r>
            <a:br>
              <a:rPr lang="en-US" dirty="0"/>
            </a:br>
            <a:r>
              <a:rPr lang="en-US" sz="3100" i="1" dirty="0"/>
              <a:t>Algorithm Objects 2/2</a:t>
            </a:r>
            <a:endParaRPr lang="en-US" i="1" dirty="0"/>
          </a:p>
        </p:txBody>
      </p:sp>
      <p:pic>
        <p:nvPicPr>
          <p:cNvPr id="3" name="Picture 2">
            <a:extLst>
              <a:ext uri="{FF2B5EF4-FFF2-40B4-BE49-F238E27FC236}">
                <a16:creationId xmlns:a16="http://schemas.microsoft.com/office/drawing/2014/main" id="{22C059EC-16E6-E74C-A5FE-FAF2D1AAAB41}"/>
              </a:ext>
            </a:extLst>
          </p:cNvPr>
          <p:cNvPicPr>
            <a:picLocks noChangeAspect="1"/>
          </p:cNvPicPr>
          <p:nvPr/>
        </p:nvPicPr>
        <p:blipFill>
          <a:blip r:embed="rId2"/>
          <a:stretch>
            <a:fillRect/>
          </a:stretch>
        </p:blipFill>
        <p:spPr>
          <a:xfrm>
            <a:off x="600579" y="1052736"/>
            <a:ext cx="8064500" cy="3949700"/>
          </a:xfrm>
          <a:prstGeom prst="rect">
            <a:avLst/>
          </a:prstGeom>
        </p:spPr>
      </p:pic>
    </p:spTree>
    <p:extLst>
      <p:ext uri="{BB962C8B-B14F-4D97-AF65-F5344CB8AC3E}">
        <p14:creationId xmlns:p14="http://schemas.microsoft.com/office/powerpoint/2010/main" val="27696283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Application Logic Classes &amp; Objects</a:t>
            </a:r>
            <a:br>
              <a:rPr lang="en-US" dirty="0"/>
            </a:br>
            <a:r>
              <a:rPr lang="en-US" sz="3100" i="1" dirty="0"/>
              <a:t>﻿Service Objects 1/2</a:t>
            </a:r>
            <a:endParaRPr lang="en-US" i="1" dirty="0"/>
          </a:p>
        </p:txBody>
      </p:sp>
      <p:sp>
        <p:nvSpPr>
          <p:cNvPr id="3" name="Content Placeholder 2">
            <a:extLst>
              <a:ext uri="{FF2B5EF4-FFF2-40B4-BE49-F238E27FC236}">
                <a16:creationId xmlns:a16="http://schemas.microsoft.com/office/drawing/2014/main" id="{54CB728F-9A06-E14E-B946-B009FCD42C6A}"/>
              </a:ext>
            </a:extLst>
          </p:cNvPr>
          <p:cNvSpPr>
            <a:spLocks noGrp="1"/>
          </p:cNvSpPr>
          <p:nvPr>
            <p:ph idx="1"/>
          </p:nvPr>
        </p:nvSpPr>
        <p:spPr>
          <a:xfrm>
            <a:off x="457199" y="908720"/>
            <a:ext cx="8229599" cy="5523813"/>
          </a:xfrm>
        </p:spPr>
        <p:txBody>
          <a:bodyPr>
            <a:normAutofit fontScale="77500" lnSpcReduction="20000"/>
          </a:bodyPr>
          <a:lstStyle/>
          <a:p>
            <a:pPr marL="0" indent="0">
              <a:buNone/>
            </a:pPr>
            <a:r>
              <a:rPr lang="en-US" sz="3600" dirty="0"/>
              <a:t>﻿﻿ ﻿A service object is an object that provides a service for other objects. They are usually provided in service-oriented architectures and applications.</a:t>
            </a:r>
          </a:p>
          <a:p>
            <a:r>
              <a:rPr lang="en-US" dirty="0"/>
              <a:t>﻿Client objects can request a service from the service object, which the service object will respond to. A service object never initiates a request; however,  in response to a service request it might seek the assistance of other service objects.</a:t>
            </a:r>
          </a:p>
          <a:p>
            <a:r>
              <a:rPr lang="en-US" dirty="0"/>
              <a:t>Service objects play an important role in service-oriented architectures, although ﻿they are used in other architectures as well, such as client/server architectures and component-based software architectures. </a:t>
            </a:r>
          </a:p>
          <a:p>
            <a:r>
              <a:rPr lang="en-US" dirty="0"/>
              <a:t>A service object might encapsulate the data it needs to service client requests or access another entity object(s) that encapsulate the data</a:t>
            </a:r>
            <a:endParaRPr lang="en-US" sz="2800" dirty="0"/>
          </a:p>
        </p:txBody>
      </p:sp>
    </p:spTree>
    <p:extLst>
      <p:ext uri="{BB962C8B-B14F-4D97-AF65-F5344CB8AC3E}">
        <p14:creationId xmlns:p14="http://schemas.microsoft.com/office/powerpoint/2010/main" val="294240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498E0-79FF-054C-9BE8-B79C303AB601}"/>
              </a:ext>
            </a:extLst>
          </p:cNvPr>
          <p:cNvSpPr>
            <a:spLocks noGrp="1"/>
          </p:cNvSpPr>
          <p:nvPr>
            <p:ph type="title"/>
          </p:nvPr>
        </p:nvSpPr>
        <p:spPr/>
        <p:txBody>
          <a:bodyPr>
            <a:normAutofit fontScale="90000"/>
          </a:bodyPr>
          <a:lstStyle/>
          <a:p>
            <a:r>
              <a:rPr lang="en-US" dirty="0"/>
              <a:t>Application Logic Classes &amp; Objects</a:t>
            </a:r>
            <a:br>
              <a:rPr lang="en-US" dirty="0"/>
            </a:br>
            <a:r>
              <a:rPr lang="en-US" sz="3100" i="1" dirty="0"/>
              <a:t>Service Objects 2/2</a:t>
            </a:r>
            <a:endParaRPr lang="en-US" i="1" dirty="0"/>
          </a:p>
        </p:txBody>
      </p:sp>
      <p:pic>
        <p:nvPicPr>
          <p:cNvPr id="4" name="Picture 3">
            <a:extLst>
              <a:ext uri="{FF2B5EF4-FFF2-40B4-BE49-F238E27FC236}">
                <a16:creationId xmlns:a16="http://schemas.microsoft.com/office/drawing/2014/main" id="{8421FE42-EB7E-474D-86FD-431A09A4BDC9}"/>
              </a:ext>
            </a:extLst>
          </p:cNvPr>
          <p:cNvPicPr>
            <a:picLocks noChangeAspect="1"/>
          </p:cNvPicPr>
          <p:nvPr/>
        </p:nvPicPr>
        <p:blipFill>
          <a:blip r:embed="rId2"/>
          <a:stretch>
            <a:fillRect/>
          </a:stretch>
        </p:blipFill>
        <p:spPr>
          <a:xfrm>
            <a:off x="461854" y="1124744"/>
            <a:ext cx="8224945" cy="4104456"/>
          </a:xfrm>
          <a:prstGeom prst="rect">
            <a:avLst/>
          </a:prstGeom>
        </p:spPr>
      </p:pic>
    </p:spTree>
    <p:extLst>
      <p:ext uri="{BB962C8B-B14F-4D97-AF65-F5344CB8AC3E}">
        <p14:creationId xmlns:p14="http://schemas.microsoft.com/office/powerpoint/2010/main" val="35347441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Image result for Q&amp;A">
            <a:extLst>
              <a:ext uri="{FF2B5EF4-FFF2-40B4-BE49-F238E27FC236}">
                <a16:creationId xmlns:a16="http://schemas.microsoft.com/office/drawing/2014/main" id="{4EFD41B2-4845-EB4D-9781-85BBC8E5F4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752" y="1340768"/>
            <a:ext cx="5107285" cy="3296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0674558"/>
      </p:ext>
    </p:extLst>
  </p:cSld>
  <p:clrMapOvr>
    <a:masterClrMapping/>
  </p:clrMapOvr>
</p:sld>
</file>

<file path=ppt/theme/theme1.xml><?xml version="1.0" encoding="utf-8"?>
<a:theme xmlns:a="http://schemas.openxmlformats.org/drawingml/2006/main" name="Session 02_Integration Managem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Session 01.2_Tong quan ve Du an &amp; QLDA</Template>
  <TotalTime>8356</TotalTime>
  <Words>2560</Words>
  <Application>Microsoft Office PowerPoint</Application>
  <PresentationFormat>On-screen Show (4:3)</PresentationFormat>
  <Paragraphs>215</Paragraphs>
  <Slides>18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Symbol</vt:lpstr>
      <vt:lpstr>Wingdings</vt:lpstr>
      <vt:lpstr>Session 02_Integration Management</vt:lpstr>
      <vt:lpstr>Software Design (swD392)</vt:lpstr>
      <vt:lpstr>Main Contents</vt:lpstr>
      <vt:lpstr>Overview</vt:lpstr>
      <vt:lpstr>Overview Object &amp; Class Structuring Categories 1/3</vt:lpstr>
      <vt:lpstr>Overview Object &amp; Class Structuring Categories 2/3</vt:lpstr>
      <vt:lpstr>Overview Object &amp; Class Structuring Categories 3/3</vt:lpstr>
      <vt:lpstr>External Classes  &amp; Software Boundary Classes</vt:lpstr>
      <vt:lpstr>Entity Classes &amp; Objects</vt:lpstr>
      <vt:lpstr>Control Classes &amp; Objects</vt:lpstr>
      <vt:lpstr>Control Classes &amp; Objects Categories of Control Objects</vt:lpstr>
      <vt:lpstr>Control Classes &amp; Objects State-dependent Control Object</vt:lpstr>
      <vt:lpstr>Application Logic Classes &amp; Objects Business Logic Objects 1/2</vt:lpstr>
      <vt:lpstr>Application Logic Classes &amp; Objects Business Logic Objects 2/2</vt:lpstr>
      <vt:lpstr>Application Logic Classes &amp; Objects ﻿Algorithm Objects 1/2</vt:lpstr>
      <vt:lpstr>Application Logic Classes &amp; Objects Algorithm Objects 2/2</vt:lpstr>
      <vt:lpstr>Application Logic Classes &amp; Objects ﻿Service Objects 1/2</vt:lpstr>
      <vt:lpstr>Application Logic Classes &amp; Objects Service Objects 2/2</vt:lpstr>
      <vt:lpstr>PowerPoint Presentation</vt:lpstr>
    </vt:vector>
  </TitlesOfParts>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KHÓA HỌC QUẢN LÝ DỰ ÁN PMP</dc:title>
  <dc:creator>iNET</dc:creator>
  <cp:lastModifiedBy>Phúc Nguyễn</cp:lastModifiedBy>
  <cp:revision>665</cp:revision>
  <cp:lastPrinted>2021-04-05T14:49:05Z</cp:lastPrinted>
  <dcterms:created xsi:type="dcterms:W3CDTF">2014-07-26T10:22:45Z</dcterms:created>
  <dcterms:modified xsi:type="dcterms:W3CDTF">2026-06-02T01:37:35Z</dcterms:modified>
</cp:coreProperties>
</file>